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从 Workload 到 Simulator 的结构化 Family 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3EC"/>
                </a:solidFill>
                <a:latin typeface="Microsoft YaHei"/>
              </a:rPr>
              <a:t>导师汇报初版 | 方法论文主线 | mini_transformer_v4 原型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4144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本次汇报只做两件事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证明当前 workload -&gt; simulator reasoning 之间存在真实结构空缺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证明 execution primitive -&gt; family 不是空想，而是一个可落地的原型方向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514600"/>
            <a:ext cx="4572000" cy="1600200"/>
          </a:xfrm>
          <a:prstGeom prst="roundRect">
            <a:avLst/>
          </a:prstGeom>
          <a:solidFill>
            <a:srgbClr val="FBF0F0"/>
          </a:solidFill>
          <a:ln>
            <a:solidFill>
              <a:srgbClr val="F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主线定位
方法论文，而不是采样技巧报告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Microsoft YaHei"/>
              </a:rPr>
              <a:t>2026-04-19 | modern-gpu-simulator-micro-2025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问题：现有流程仍缺少结构化接口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7E0EB"/>
                </a:solidFill>
                <a:latin typeface="Microsoft YaHei"/>
              </a:rPr>
              <a:t>核心不是 workload 不能模拟，而是 workload 很难被自然组织成 simulator 可承接的对象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794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2704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当前痛点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3474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kernel 很多、phase 很杂、解释对象不显式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同一 workload 往往依赖人工经验拆热点、并 case、选验证主线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模拟器能跑 workload，但前面的组织层仍然模糊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417320"/>
            <a:ext cx="2880360" cy="347472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5270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现象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874520"/>
            <a:ext cx="25603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sample 可以减少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proxy 可以构造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single kernel 可以分析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但中间结构层仍然缺位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691640"/>
            <a:ext cx="3703320" cy="2651760"/>
          </a:xfrm>
          <a:prstGeom prst="roundRect">
            <a:avLst/>
          </a:prstGeom>
          <a:solidFill>
            <a:srgbClr val="FBF0F0"/>
          </a:solidFill>
          <a:ln>
            <a:solidFill>
              <a:srgbClr val="F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结论
现有流程能模拟 workload，
但还不能自然地组织 workload。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Microsoft YaHei"/>
              </a:rPr>
              <a:t>第 2 页 | 问题定义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相关工作一：PKA 做了什么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7E0EB"/>
                </a:solidFill>
                <a:latin typeface="Microsoft YaHei"/>
              </a:rPr>
              <a:t>Principal Kernel Analysis 代表的是 sampled GPU simulation 里的 representative-kernel 路线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3560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PKA：通过选择代表 kernel 和 thread block 来减少模拟量</a:t>
            </a:r>
          </a:p>
        </p:txBody>
      </p:sp>
      <p:pic>
        <p:nvPicPr>
          <p:cNvPr id="7" name="Picture 6" descr="pka_metho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828800"/>
            <a:ext cx="5705856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04304" y="1828800"/>
            <a:ext cx="38404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核心目标：减少需要进入 simulator 的 kernel 和 thread blocks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核心方法：PCA + 聚类选 representative kernels，再做 kernel projection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本质上是在压缩 simulation samples，而不是显式定义 workload 的结构接口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67528"/>
            <a:ext cx="10607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770"/>
                </a:solidFill>
                <a:latin typeface="Microsoft YaHei"/>
              </a:rPr>
              <a:t>图源：Baddouh et al., MICRO 2021, Principal Kernel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Microsoft YaHei"/>
              </a:rPr>
              <a:t>第 3 页 | related work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相关工作二：Sieve 做了什么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7E0EB"/>
                </a:solidFill>
                <a:latin typeface="Microsoft YaHei"/>
              </a:rPr>
              <a:t>Sieve 代表的是更稳健的 stratified sampling 路线，重点仍然是 sampled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3560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Sieve：先分层，再选 representative invocations 做加权预测</a:t>
            </a:r>
          </a:p>
        </p:txBody>
      </p:sp>
      <p:pic>
        <p:nvPicPr>
          <p:cNvPr id="7" name="Picture 6" descr="sieve_metho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828800"/>
            <a:ext cx="5705856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04304" y="1828800"/>
            <a:ext cx="38404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核心目标：提高 sampled simulation 的稳定性与精度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核心方法：profile -&gt; stratification -&gt; representative kernel set -&gt; weighted prediction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改进了 sampling 质量，但目标仍然是 workload estimation / sampled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67528"/>
            <a:ext cx="10607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770"/>
                </a:solidFill>
                <a:latin typeface="Microsoft YaHei"/>
              </a:rPr>
              <a:t>图源：Nalbantov et al., ISPASS 2023, Sieve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Microsoft YaHei"/>
              </a:rPr>
              <a:t>第 4 页 | related work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我们的区别：不是采样技巧，而是结构化接口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7E0EB"/>
                </a:solidFill>
                <a:latin typeface="Microsoft YaHei"/>
              </a:rPr>
              <a:t>我们不是回答“模哪些样本”，而是回答“按什么结构去解释和组织 workload”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2377440" cy="640080"/>
          </a:xfrm>
          <a:prstGeom prst="rect">
            <a:avLst/>
          </a:prstGeom>
          <a:solidFill>
            <a:srgbClr val="16233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45336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417320"/>
            <a:ext cx="3429000" cy="640080"/>
          </a:xfrm>
          <a:prstGeom prst="rect">
            <a:avLst/>
          </a:prstGeom>
          <a:solidFill>
            <a:srgbClr val="16233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545336"/>
            <a:ext cx="3282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现有工作主问题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4069080" cy="640080"/>
          </a:xfrm>
          <a:prstGeom prst="rect">
            <a:avLst/>
          </a:prstGeom>
          <a:solidFill>
            <a:srgbClr val="16233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545336"/>
            <a:ext cx="3922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我们主问题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057400"/>
            <a:ext cx="2377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167128"/>
            <a:ext cx="223113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529"/>
                </a:solidFill>
                <a:latin typeface="Microsoft YaHei"/>
              </a:rPr>
              <a:t>representative sampling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057400"/>
            <a:ext cx="3429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2167128"/>
            <a:ext cx="32826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529"/>
                </a:solidFill>
                <a:latin typeface="Microsoft YaHei"/>
              </a:rPr>
              <a:t>模哪些样本 / 模多少样本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057400"/>
            <a:ext cx="4069080" cy="749808"/>
          </a:xfrm>
          <a:prstGeom prst="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167128"/>
            <a:ext cx="39227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529"/>
                </a:solidFill>
                <a:latin typeface="Microsoft YaHei"/>
              </a:rPr>
              <a:t>workload 如何形成 simulator 分析对象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807208"/>
            <a:ext cx="2377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916936"/>
            <a:ext cx="223113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529"/>
                </a:solidFill>
                <a:latin typeface="Microsoft YaHei"/>
              </a:rPr>
              <a:t>proxy benchmark / motif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2807208"/>
            <a:ext cx="3429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6392" y="2916936"/>
            <a:ext cx="32826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529"/>
                </a:solidFill>
                <a:latin typeface="Microsoft YaHei"/>
              </a:rPr>
              <a:t>用什么小程序代表原 workload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807208"/>
            <a:ext cx="4069080" cy="749808"/>
          </a:xfrm>
          <a:prstGeom prst="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916936"/>
            <a:ext cx="39227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529"/>
                </a:solidFill>
                <a:latin typeface="Microsoft YaHei"/>
              </a:rPr>
              <a:t>原 workload 内部如何形成结构化归属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557016"/>
            <a:ext cx="2377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666744"/>
            <a:ext cx="223113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529"/>
                </a:solidFill>
                <a:latin typeface="Microsoft YaHei"/>
              </a:rPr>
              <a:t>single-kernel profiling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3557016"/>
            <a:ext cx="3429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36392" y="3666744"/>
            <a:ext cx="32826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529"/>
                </a:solidFill>
                <a:latin typeface="Microsoft YaHei"/>
              </a:rPr>
              <a:t>这个 kernel 为什么慢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557016"/>
            <a:ext cx="4069080" cy="749808"/>
          </a:xfrm>
          <a:prstGeom prst="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3666744"/>
            <a:ext cx="39227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529"/>
                </a:solidFill>
                <a:latin typeface="Microsoft YaHei"/>
              </a:rPr>
              <a:t>整条 workload 如何组织成 reasoning units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572000"/>
            <a:ext cx="10515600" cy="713232"/>
          </a:xfrm>
          <a:prstGeom prst="roundRect">
            <a:avLst/>
          </a:prstGeom>
          <a:solidFill>
            <a:srgbClr val="FBF0F0"/>
          </a:solidFill>
          <a:ln>
            <a:solidFill>
              <a:srgbClr val="F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PKA / Sieve 压缩的是 simulation samples；我们试图补上的是 workload -&gt; simulator reasoning 的结构层。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Microsoft YaHei"/>
              </a:rPr>
              <a:t>第 5 页 | 我们和 related work 的区别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方法价值与可行性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7E0EB"/>
                </a:solidFill>
                <a:latin typeface="Microsoft YaHei"/>
              </a:rPr>
              <a:t>这一页回答两个问题：为什么值得做，为什么不是异想天开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270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把 workload 到 simulator 的经验性映射过程显式化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把分析对象提升到 primitive / family 层，而不是只盯单个 kernel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为后续 family-aware simulator tuning 提供组织基础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74720" cy="329184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270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可行性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7452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我们不是按算子名分组，也不是按上层模块分组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判据是被 boundary case 反例逼出来的，不是拍脑袋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Transformer 主链已经能覆盖多种 execution primitive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37360"/>
            <a:ext cx="3246120" cy="2560320"/>
          </a:xfrm>
          <a:prstGeom prst="roundRect">
            <a:avLst/>
          </a:prstGeom>
          <a:solidFill>
            <a:srgbClr val="FBF0F0"/>
          </a:solidFill>
          <a:ln>
            <a:solidFill>
              <a:srgbClr val="F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核心判断
这个方向值得做，
因为当前空缺真实存在；
这个方向也可行，
因为原型已经能长出来。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Microsoft YaHei"/>
              </a:rPr>
              <a:t>第 6 页 | 价值与可行性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Transformer 主计算路线：我们现在具体做了什么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7E0EB"/>
                </a:solidFill>
                <a:latin typeface="Microsoft YaHei"/>
              </a:rPr>
              <a:t>第一版不是泛泛谈 family，而是先在一条完整主路径上压出 execution primitives 和 family 线索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60320" cy="91440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workload trace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17320"/>
            <a:ext cx="2560320" cy="91440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execution primitive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417320"/>
            <a:ext cx="2560320" cy="91440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family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9136" y="1417320"/>
            <a:ext cx="2560320" cy="914400"/>
          </a:xfrm>
          <a:prstGeom prst="roundRect">
            <a:avLst/>
          </a:prstGeom>
          <a:solidFill>
            <a:srgbClr val="FBF0F0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simulator reasoning lane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.0" y="1874520.0"/>
            <a:ext cx="347472.0" cy="0.0"/>
          </a:xfrm>
          <a:prstGeom prst="line">
            <a:avLst/>
          </a:prstGeom>
          <a:ln w="28575">
            <a:solidFill>
              <a:srgbClr val="C9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71032.0" y="1874520.0"/>
            <a:ext cx="347472.0" cy="0.0"/>
          </a:xfrm>
          <a:prstGeom prst="line">
            <a:avLst/>
          </a:prstGeom>
          <a:ln w="28575">
            <a:solidFill>
              <a:srgbClr val="C9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87384.0" y="1874520.0"/>
            <a:ext cx="347472.0" cy="0.0"/>
          </a:xfrm>
          <a:prstGeom prst="line">
            <a:avLst/>
          </a:prstGeom>
          <a:ln w="28575">
            <a:solidFill>
              <a:srgbClr val="C9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2743200"/>
            <a:ext cx="2148840" cy="86868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QKV / projection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743200"/>
            <a:ext cx="2148840" cy="86868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attention_score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743200"/>
            <a:ext cx="2148840" cy="86868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softmax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743200"/>
            <a:ext cx="2148840" cy="86868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context_mul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2743200"/>
            <a:ext cx="2148840" cy="868680"/>
          </a:xfrm>
          <a:prstGeom prst="roundRect">
            <a:avLst/>
          </a:prstGeom>
          <a:solidFill>
            <a:srgbClr val="FBF0F0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residual / norm / FFN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06040.0" y="3177540.0"/>
            <a:ext cx="228600.0" cy="0.0"/>
          </a:xfrm>
          <a:prstGeom prst="line">
            <a:avLst/>
          </a:prstGeom>
          <a:ln w="28575">
            <a:solidFill>
              <a:srgbClr val="C9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92040.0" y="3177540.0"/>
            <a:ext cx="228600.0" cy="0.0"/>
          </a:xfrm>
          <a:prstGeom prst="line">
            <a:avLst/>
          </a:prstGeom>
          <a:ln w="28575">
            <a:solidFill>
              <a:srgbClr val="C9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78040.0" y="3177540.0"/>
            <a:ext cx="228600.0" cy="0.0"/>
          </a:xfrm>
          <a:prstGeom prst="line">
            <a:avLst/>
          </a:prstGeom>
          <a:ln w="28575">
            <a:solidFill>
              <a:srgbClr val="C9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.0" y="3177540.0"/>
            <a:ext cx="228600.0" cy="0.0"/>
          </a:xfrm>
          <a:prstGeom prst="line">
            <a:avLst/>
          </a:prstGeom>
          <a:ln w="28575">
            <a:solidFill>
              <a:srgbClr val="C9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39776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Microsoft YaHei"/>
              </a:rPr>
              <a:t>这条主链已覆盖的 execution primitives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15968"/>
            <a:ext cx="3456432" cy="50292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12529"/>
                </a:solidFill>
                <a:latin typeface="Microsoft YaHei"/>
              </a:rPr>
              <a:t>Dense Tile Compute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4315968"/>
            <a:ext cx="3456432" cy="50292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12529"/>
                </a:solidFill>
                <a:latin typeface="Microsoft YaHei"/>
              </a:rPr>
              <a:t>Pairwise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3568" y="4315968"/>
            <a:ext cx="3456432" cy="50292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12529"/>
                </a:solidFill>
                <a:latin typeface="Microsoft YaHei"/>
              </a:rPr>
              <a:t>Reduction / Normalize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3456432" cy="50292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12529"/>
                </a:solidFill>
                <a:latin typeface="Microsoft YaHei"/>
              </a:rPr>
              <a:t>Weighted Aggregation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4983480"/>
            <a:ext cx="3456432" cy="50292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12529"/>
                </a:solidFill>
                <a:latin typeface="Microsoft YaHei"/>
              </a:rPr>
              <a:t>Elementwise / 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Microsoft YaHei"/>
              </a:rPr>
              <a:t>第 7 页 | Transformer 主链原型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当前原型：Boundary Case 如何逼出判据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7E0EB"/>
                </a:solidFill>
                <a:latin typeface="Microsoft YaHei"/>
              </a:rPr>
              <a:t>这一步最关键的作用，是证明 family 的定义必须下沉到 execution primitive，而不是停留在算子语义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57800" cy="3063240"/>
          </a:xfrm>
          <a:prstGeom prst="roundRect">
            <a:avLst/>
          </a:prstGeom>
          <a:solidFill>
            <a:srgbClr val="ECF3F7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9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Case A: gemm_tiled vs attention_score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93776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说明不能只按算子名字拆分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二者存在共享执行模板，但语义不同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问题被逼到 execution primitive 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257800" cy="3063240"/>
          </a:xfrm>
          <a:prstGeom prst="roundRect">
            <a:avLst/>
          </a:prstGeom>
          <a:solidFill>
            <a:srgbClr val="FBF0F0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09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Case B: softmax_kernel vs context_mul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93776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说明不能只按上层 attention 模块合并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softmax 更像 reduction / normalize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context_mul 更像 weighted aggregation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83480"/>
            <a:ext cx="9875520" cy="731520"/>
          </a:xfrm>
          <a:prstGeom prst="roundRect">
            <a:avLst/>
          </a:prstGeom>
          <a:solidFill>
            <a:srgbClr val="FBF0F0"/>
          </a:solidFill>
          <a:ln>
            <a:solidFill>
              <a:srgbClr val="F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结论：family 的核心不是语义标签，而是 execution primitive。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Microsoft YaHei"/>
              </a:rPr>
              <a:t>第 8 页 | 当前原型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下一步：先把方法做硬，再向 Simulator 对接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7E0EB"/>
                </a:solidFill>
                <a:latin typeface="Microsoft YaHei"/>
              </a:rPr>
              <a:t>当前阶段的重点不是铺更多 workload，而是先把方法论原型打硬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3474720" cy="457200"/>
          </a:xfrm>
          <a:prstGeom prst="round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Step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231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5328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做硬 transformer 主链 primitive 判据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12529"/>
                </a:solidFill>
                <a:latin typeface="Microsoft YaHei"/>
              </a:rPr>
              <a:t>做硬 transformer 主链 primitive 判据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16552" y="3246120"/>
            <a:ext cx="219456" cy="0"/>
          </a:xfrm>
          <a:prstGeom prst="line">
            <a:avLst/>
          </a:prstGeom>
          <a:ln w="28575">
            <a:solidFill>
              <a:srgbClr val="C9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09160" y="1828800"/>
            <a:ext cx="3474720" cy="457200"/>
          </a:xfrm>
          <a:prstGeom prst="roundRect">
            <a:avLst/>
          </a:prstGeom>
          <a:solidFill>
            <a:srgbClr val="2F8093"/>
          </a:solidFill>
          <a:ln>
            <a:solidFill>
              <a:srgbClr val="2F80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Step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4231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5328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形成 family selection / boundary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88036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46320" y="2743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12529"/>
                </a:solidFill>
                <a:latin typeface="Microsoft YaHei"/>
              </a:rPr>
              <a:t>形成 family selection / boundary protocol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57032" y="3246120"/>
            <a:ext cx="219456" cy="0"/>
          </a:xfrm>
          <a:prstGeom prst="line">
            <a:avLst/>
          </a:prstGeom>
          <a:ln w="28575">
            <a:solidFill>
              <a:srgbClr val="C9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49640" y="1828800"/>
            <a:ext cx="3474720" cy="457200"/>
          </a:xfrm>
          <a:prstGeom prst="roundRect">
            <a:avLst/>
          </a:prstGeom>
          <a:solidFill>
            <a:srgbClr val="2F8093"/>
          </a:solidFill>
          <a:ln>
            <a:solidFill>
              <a:srgbClr val="2F80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24231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5328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再向 simulator lane 与 tuning lane 对接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88036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0" y="2743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12529"/>
                </a:solidFill>
                <a:latin typeface="Microsoft YaHei"/>
              </a:rPr>
              <a:t>再向 simulator lane 与 tuning lane 对接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709160"/>
            <a:ext cx="10058400" cy="713232"/>
          </a:xfrm>
          <a:prstGeom prst="roundRect">
            <a:avLst/>
          </a:prstGeom>
          <a:solidFill>
            <a:srgbClr val="ECF3F7"/>
          </a:solidFill>
          <a:ln>
            <a:solidFill>
              <a:srgbClr val="EC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当前优先级：Transformer 主链 primitive 判据 &gt; family selection protocol &gt; simulator lane 对接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Microsoft YaHei"/>
              </a:rPr>
              <a:t>第 9 页 | 下一步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7E0EB"/>
                </a:solidFill>
                <a:latin typeface="Microsoft YaHei"/>
              </a:rPr>
              <a:t>本次汇报的目标不是证明所有实验已经完成，而是先把论文问题、方法接口和第一版原型讲清楚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4922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Microsoft YaHei"/>
              </a:rPr>
              <a:t>三点总结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61722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当前空缺真实存在：workload 到 simulator 之间缺少结构化接口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我们的方法方向明确：execution primitive -&gt; family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  <a:latin typeface="Microsoft YaHei"/>
              </a:defRPr>
            </a:pPr>
            <a:r>
              <a:t>Transformer 主链已经提供了第一版可落地原型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011680"/>
            <a:ext cx="3657600" cy="1737360"/>
          </a:xfrm>
          <a:prstGeom prst="roundRect">
            <a:avLst/>
          </a:prstGeom>
          <a:solidFill>
            <a:srgbClr val="ECF3F7"/>
          </a:solidFill>
          <a:ln>
            <a:solidFill>
              <a:srgbClr val="EC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12529"/>
                </a:solidFill>
                <a:latin typeface="Microsoft YaHei"/>
              </a:rPr>
              <a:t>核心结论
不是减少几个 simulation samples，
而是定义一层新的结构化中间表示。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Microsoft YaHei"/>
              </a:rPr>
              <a:t>第 10 页 | 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