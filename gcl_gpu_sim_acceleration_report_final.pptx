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各位老师、同学大家好，我们这次汇报的题目是“基于图对比学习的 GPU 仿真加速技术”。这项工作的核心问题是：当一个深度学习模型在 GPU 上执行时，会产生大量 kernel 调用，如果全部逐个进行仿真和分析，成本会非常高。我们的思路是先把 kernel 的执行结构表示出来，再用图神经网络和聚类方法找出相似 kernel，最后只选择少量代表 kernel 进行后续分析。这样就可以在尽量保留结构差异的前提下，减少需要处理的模拟对象数量。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首先看研究动机。GPU kernel 是 GPU 程序执行和性能分析的基本单元。一个模型推理过程里可能会产生很多 kernel invocation，每个 kernel 又包含 CTA、warp、指令和访存行为。完整 trace 虽然信息最全，但直接分析全部 trace 会带来很高的存储和仿真成本。因此，我们希望用代表 kernel 替代全量 kernel。以本次 ResNet-50 trace 为例，原始输入有 265 个 kernel invocation，我们的目标就是把这些 kernel 变成少量结构上有代表性的样本，从而降低后续模拟规模。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这一页展示整体流程。第一步是采集 ResNet-50 的真实 GPU 执行 trace；第二步是把每个 kernel 的执行轨迹构造成图；第三步是使用 RGCN 对图结构进行编码，得到固定维度的 kernel embedding；第四步通过图对比学习训练编码器，让结构相近的 kernel 在向量空间里更接近；第五步使用 K-means 聚类；最后从每个簇中选出离中心最近的代表 kernel。可以看到，这条链路把原始 trace 转换成了可以聚类和压缩的表示空间。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接下来介绍方法部分。我们首先把 kernel 执行轨迹转化为异构关系图。图中的节点可以表示指令节点，也可以表示访存相关的 pseudo node。边则表示不同类型的结构关系，包括 control flow、data source 和 data destination。相比只统计指令数量、访存比例这类人工特征，图表示能够保留指令之间的依赖关系、控制关系和访存关系。因此，一个 kernel 不再只是一个名字或一组统计数值，而是一个包含执行结构的图对象。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有了图之后，我们使用 RGCN，也就是关系图卷积网络，作为图编码器。选择 RGCN 的原因是我们的图中有多种边类型，普通 GCN 会把所有边当成同一种连接，而 RGCN 可以针对不同关系使用不同的变换参数。本次复现中，模型是三层 RGCN，输入维度是 64，隐藏维度是 128，最终输出 256 维 kernel embedding。也就是说，每个 kernel 最后都会被编码成一个 256 维向量，用于后面的聚类分析。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这里进一步说明 readout 过程。RGCN 最开始得到的是节点级表示，但我们的目标是比较整个 kernel，所以需要把节点表示逐级聚合成 kernel 表示。这个过程按照 GPU 执行层级进行：先从 node 聚合到 warp，再到 CTA，再到 selected SM，最后得到 kernel embedding。这样做比简单地把所有节点平均起来更合理，因为它保留了 GPU 执行结构中的层次信息，也让最终 embedding 更贴近 kernel 的真实执行组织方式。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这一页是图对比学习。由于我们没有人工标注的 kernel 类别，所以不能直接做监督分类。GCL 的做法是：对同一个 kernel 图构造两个增强视图，这两个视图应该在 embedding 空间中接近；而不同 kernel 的视图则作为负样本，应该相对远离。这里使用的目标是 InfoNCE 损失。直观理解就是，模型在训练过程中学习“哪些图结构像同一个 kernel，哪些图结构差别更大”。这样即使没有标签，也能学习出具有结构区分能力的 embedding。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得到 kernel embedding 后，我们进入 K-means 聚类和代表样本选择。输入是 265 个 kernel，每个 kernel 对应一个 256 维向量。K-means 会根据向量空间中的距离把这些 kernel 分成若干簇。K 的选择不是手工拍脑袋决定的，而是通过轮廓系数比较不同 K 值后得到。确定 K 之后，每个簇中距离聚类中心最近的样本会被选为代表 kernel。这个代表 kernel 可以看作当前簇中最典型的结构样本。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这一页汇总实验设置和主要结果。我们的输入 workload 是 torchvision ResNet-50 的一次推理 full trace，共包含 265 个 kernel invocation 和 124876 条 CTA 记录。RGCN 最终导出了 265 个 256 维 embedding。K-means 根据轮廓系数选择 K=2，silhouette 指标为 0.481866，簇间和簇内距离比为 2.016339。这些指标说明 embedding 空间中确实出现了初步分离现象，也说明从真实 trace 到 kernel 聚类的端到端流程已经跑通。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这里要解释聚类结果。最终两个簇的规模并不均衡：cluster 0 有 263 个样本，cluster 1 有 2 个样本。因此，这个结果更适合解释为“主体 kernel 群组加少量结构特殊 kernel”的分离，而不是直接说得到了两个明确的功能类别。右侧的示意图表达的就是这个含义：大多数 kernel 在当前 embedding 空间中比较接近，少数 kernel 明显偏离主体。这说明 GCL 学到了一定的结构差异，也能帮助我们发现特殊 kernel。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这一页给出课程报告的结论。通过这套 GCL + RGCN + K-means 方法，我们把 ResNet-50 full trace 中的 265 个 kernel invocation 压缩成 2 个代表 kernel。按模拟对象数量来估算，理论模拟加速约为 265 除以 2，也就是 132.5 倍。这里的含义是：如果原来需要逐个模拟 265 个 kernel，现在只需要围绕 2 个代表 kernel 做分析，模拟对象规模被显著降低。这正是这套方法用于 GPU 仿真加速的价值。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最后做一个总结。GNN 负责把 kernel 的执行轨迹编码成图结构表示，GCL 负责在无标签条件下学习 kernel 之间的结构相似性，K-means 负责在 embedding 空间中完成聚类并选择代表 kernel。通过这三个部分的结合，我们完成了从真实 trace 到代表 kernel 选择的端到端复现。最终结果是把 265 个 kernel invocation 压缩到 2 个代表 kernel，得到约 132.5 倍的理论模拟加速。以上就是我们的课程报告，谢谢大家。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61975"/>
            <a:ext cx="11430000" cy="5724525"/>
            <a:chOff x="762000" y="561975"/>
            <a:chExt cx="11430000" cy="5724525"/>
          </a:xfrm>
        </p:grpSpPr>
        <p:sp>
          <p:nvSpPr>
            <p:cNvPr id="3" name="Freeform 3"/>
            <p:cNvSpPr/>
            <p:nvPr/>
          </p:nvSpPr>
          <p:spPr>
            <a:xfrm>
              <a:off x="762000" y="1143000"/>
              <a:ext cx="10668000" cy="4572000"/>
            </a:xfrm>
            <a:custGeom>
              <a:avLst/>
              <a:gdLst/>
              <a:ahLst/>
              <a:cxnLst/>
              <a:rect l="l" t="t" r="r" b="b"/>
              <a:pathLst>
                <a:path w="10668000" h="4572000">
                  <a:moveTo>
                    <a:pt x="0" y="0"/>
                  </a:moveTo>
                  <a:lnTo>
                    <a:pt x="10668000" y="0"/>
                  </a:lnTo>
                  <a:moveTo>
                    <a:pt x="0" y="762000"/>
                  </a:moveTo>
                  <a:lnTo>
                    <a:pt x="10668000" y="762000"/>
                  </a:lnTo>
                  <a:moveTo>
                    <a:pt x="0" y="1524000"/>
                  </a:moveTo>
                  <a:lnTo>
                    <a:pt x="10668000" y="1524000"/>
                  </a:lnTo>
                  <a:moveTo>
                    <a:pt x="0" y="2286000"/>
                  </a:moveTo>
                  <a:lnTo>
                    <a:pt x="10668000" y="2286000"/>
                  </a:lnTo>
                  <a:moveTo>
                    <a:pt x="0" y="3048000"/>
                  </a:moveTo>
                  <a:lnTo>
                    <a:pt x="10668000" y="3048000"/>
                  </a:lnTo>
                  <a:moveTo>
                    <a:pt x="0" y="3810000"/>
                  </a:moveTo>
                  <a:lnTo>
                    <a:pt x="10668000" y="3810000"/>
                  </a:lnTo>
                  <a:moveTo>
                    <a:pt x="0" y="4572000"/>
                  </a:moveTo>
                  <a:lnTo>
                    <a:pt x="10668000" y="4572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8DEE9">
                  <a:alpha val="4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1524000" y="762000"/>
              <a:ext cx="9144000" cy="5334000"/>
            </a:xfrm>
            <a:custGeom>
              <a:avLst/>
              <a:gdLst/>
              <a:ahLst/>
              <a:cxnLst/>
              <a:rect l="l" t="t" r="r" b="b"/>
              <a:pathLst>
                <a:path w="9144000" h="5334000">
                  <a:moveTo>
                    <a:pt x="0" y="0"/>
                  </a:moveTo>
                  <a:lnTo>
                    <a:pt x="0" y="5334000"/>
                  </a:lnTo>
                  <a:moveTo>
                    <a:pt x="1524000" y="0"/>
                  </a:moveTo>
                  <a:lnTo>
                    <a:pt x="1524000" y="5334000"/>
                  </a:lnTo>
                  <a:moveTo>
                    <a:pt x="3048000" y="0"/>
                  </a:moveTo>
                  <a:lnTo>
                    <a:pt x="3048000" y="5334000"/>
                  </a:lnTo>
                  <a:moveTo>
                    <a:pt x="4572000" y="0"/>
                  </a:moveTo>
                  <a:lnTo>
                    <a:pt x="4572000" y="5334000"/>
                  </a:lnTo>
                  <a:moveTo>
                    <a:pt x="6096000" y="0"/>
                  </a:moveTo>
                  <a:lnTo>
                    <a:pt x="6096000" y="5334000"/>
                  </a:lnTo>
                  <a:moveTo>
                    <a:pt x="7620000" y="0"/>
                  </a:moveTo>
                  <a:lnTo>
                    <a:pt x="7620000" y="5334000"/>
                  </a:lnTo>
                  <a:moveTo>
                    <a:pt x="9144000" y="0"/>
                  </a:moveTo>
                  <a:lnTo>
                    <a:pt x="9144000" y="5334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8DEE9">
                  <a:alpha val="35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9086850" y="561975"/>
              <a:ext cx="1828800" cy="1828800"/>
            </a:xfrm>
            <a:prstGeom prst="ellipse">
              <a:avLst/>
            </a:prstGeom>
            <a:solidFill>
              <a:srgbClr val="2563EB">
                <a:alpha val="6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9525000" y="3619500"/>
              <a:ext cx="2667000" cy="2667000"/>
            </a:xfrm>
            <a:prstGeom prst="ellipse">
              <a:avLst/>
            </a:prstGeom>
            <a:solidFill>
              <a:srgbClr val="22C55E">
                <a:alpha val="60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52450" y="514350"/>
            <a:ext cx="1760870" cy="323850"/>
            <a:chOff x="552450" y="514350"/>
            <a:chExt cx="1760870" cy="323850"/>
          </a:xfrm>
        </p:grpSpPr>
        <p:sp>
          <p:nvSpPr>
            <p:cNvPr id="8" name="Rectangle 8"/>
            <p:cNvSpPr/>
            <p:nvPr/>
          </p:nvSpPr>
          <p:spPr>
            <a:xfrm>
              <a:off x="552450" y="514350"/>
              <a:ext cx="1562100" cy="3238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612775"/>
              <a:ext cx="142875" cy="136525"/>
              <a:chOff x="738188" y="612775"/>
              <a:chExt cx="142875" cy="1365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85812" y="64452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33438" y="660400"/>
                <a:ext cx="952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875">
                    <a:moveTo>
                      <a:pt x="0" y="158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09625" y="6683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7937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38188" y="612775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46125" y="612775"/>
                <a:ext cx="1270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0">
                    <a:moveTo>
                      <a:pt x="0" y="0"/>
                    </a:moveTo>
                    <a:lnTo>
                      <a:pt x="0" y="79375"/>
                    </a:lnTo>
                    <a:cubicBezTo>
                      <a:pt x="0" y="88143"/>
                      <a:pt x="7107" y="95250"/>
                      <a:pt x="15875" y="95250"/>
                    </a:cubicBezTo>
                    <a:lnTo>
                      <a:pt x="111125" y="95250"/>
                    </a:lnTo>
                    <a:cubicBezTo>
                      <a:pt x="119893" y="95250"/>
                      <a:pt x="127000" y="88143"/>
                      <a:pt x="127000" y="7937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09625" y="70802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85812" y="73977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987742" y="628174"/>
              <a:ext cx="13255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GCL REPRODUCTION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4845" y="1364932"/>
            <a:ext cx="7683360" cy="2807018"/>
            <a:chOff x="664845" y="1364932"/>
            <a:chExt cx="7683360" cy="2807018"/>
          </a:xfrm>
        </p:grpSpPr>
        <p:sp>
          <p:nvSpPr>
            <p:cNvPr id="19" name="TextBox 19"/>
            <p:cNvSpPr txBox="1"/>
            <p:nvPr/>
          </p:nvSpPr>
          <p:spPr>
            <a:xfrm>
              <a:off x="664845" y="1364932"/>
              <a:ext cx="5822823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基于图对比学习的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4845" y="2107882"/>
              <a:ext cx="5787169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GPU 仿真加速技术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476625"/>
              <a:ext cx="5905500" cy="38100"/>
            </a:xfrm>
            <a:prstGeom prst="roundRect">
              <a:avLst>
                <a:gd name="adj" fmla="val 50000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9140" y="3806190"/>
              <a:ext cx="760906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GCL + RGCN + K-means 的 ResNet-50 kernel 表示与聚类复现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81050" y="4810125"/>
            <a:ext cx="8096250" cy="826294"/>
            <a:chOff x="781050" y="4810125"/>
            <a:chExt cx="8096250" cy="826294"/>
          </a:xfrm>
        </p:grpSpPr>
        <p:sp>
          <p:nvSpPr>
            <p:cNvPr id="24" name="Rectangle 24"/>
            <p:cNvSpPr/>
            <p:nvPr/>
          </p:nvSpPr>
          <p:spPr>
            <a:xfrm>
              <a:off x="781050" y="4810125"/>
              <a:ext cx="8096250" cy="781050"/>
            </a:xfrm>
            <a:prstGeom prst="roundRect">
              <a:avLst>
                <a:gd name="adj" fmla="val 26829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123950" y="5029200"/>
              <a:ext cx="342900" cy="342900"/>
            </a:xfrm>
            <a:prstGeom prst="ellipse">
              <a:avLst/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971800" y="5029200"/>
              <a:ext cx="342900" cy="3429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4838700" y="5029200"/>
              <a:ext cx="342900" cy="3429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686550" y="5029200"/>
              <a:ext cx="342900" cy="3429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466850" y="520065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1504950" y="0"/>
                  </a:lnTo>
                  <a:moveTo>
                    <a:pt x="1847850" y="0"/>
                  </a:moveTo>
                  <a:lnTo>
                    <a:pt x="3371850" y="0"/>
                  </a:lnTo>
                  <a:moveTo>
                    <a:pt x="3714750" y="0"/>
                  </a:moveTo>
                  <a:lnTo>
                    <a:pt x="5219700" y="0"/>
                  </a:lnTo>
                </a:path>
              </a:pathLst>
            </a:custGeom>
            <a:solidFill>
              <a:srgbClr val="000000"/>
            </a:solidFill>
            <a:ln w="23812">
              <a:solidFill>
                <a:srgbClr val="8792A2"/>
              </a:solidFill>
              <a:custDash>
                <a:ds d="320000" sp="280000"/>
              </a:custDash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52557" y="5137785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77404" y="513778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44304" y="513778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92154" y="513778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54418" y="543829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Trace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45118" y="543829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Graph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02492" y="54382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RGCN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40818" y="5438299"/>
              <a:ext cx="6014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K-means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334500" y="2038350"/>
            <a:ext cx="2038350" cy="2000250"/>
            <a:chOff x="9334500" y="2038350"/>
            <a:chExt cx="2038350" cy="2000250"/>
          </a:xfrm>
        </p:grpSpPr>
        <p:sp>
          <p:nvSpPr>
            <p:cNvPr id="39" name="Rectangle 39"/>
            <p:cNvSpPr/>
            <p:nvPr/>
          </p:nvSpPr>
          <p:spPr>
            <a:xfrm>
              <a:off x="9334500" y="2038350"/>
              <a:ext cx="2038350" cy="2000250"/>
            </a:xfrm>
            <a:prstGeom prst="roundRect">
              <a:avLst>
                <a:gd name="adj" fmla="val 10476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744869" y="2402681"/>
              <a:ext cx="188913" cy="242888"/>
            </a:xfrm>
            <a:custGeom>
              <a:avLst/>
              <a:gdLst/>
              <a:ahLst/>
              <a:cxnLst/>
              <a:rect l="l" t="t" r="r" b="b"/>
              <a:pathLst>
                <a:path w="188913" h="242888">
                  <a:moveTo>
                    <a:pt x="107950" y="0"/>
                  </a:moveTo>
                  <a:lnTo>
                    <a:pt x="107950" y="94456"/>
                  </a:lnTo>
                  <a:lnTo>
                    <a:pt x="188913" y="94456"/>
                  </a:lnTo>
                  <a:lnTo>
                    <a:pt x="80962" y="242888"/>
                  </a:lnTo>
                  <a:lnTo>
                    <a:pt x="80962" y="148431"/>
                  </a:lnTo>
                  <a:lnTo>
                    <a:pt x="0" y="148431"/>
                  </a:lnTo>
                  <a:lnTo>
                    <a:pt x="107950" y="0"/>
                  </a:lnTo>
                </a:path>
              </a:pathLst>
            </a:custGeom>
            <a:noFill/>
            <a:ln w="19050">
              <a:solidFill>
                <a:srgbClr val="22C55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624060" y="2747010"/>
              <a:ext cx="1169413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265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81210" y="3413760"/>
              <a:ext cx="15670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kernel invocation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84068" y="3704749"/>
              <a:ext cx="14487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ResNet-50 full trace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48665" y="6268402"/>
            <a:ext cx="10692765" cy="213360"/>
            <a:chOff x="748665" y="6268402"/>
            <a:chExt cx="10692765" cy="213360"/>
          </a:xfrm>
        </p:grpSpPr>
        <p:sp>
          <p:nvSpPr>
            <p:cNvPr id="45" name="TextBox 45"/>
            <p:cNvSpPr txBox="1"/>
            <p:nvPr/>
          </p:nvSpPr>
          <p:spPr>
            <a:xfrm>
              <a:off x="748665" y="6268402"/>
              <a:ext cx="17595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丁逸夫 · 吴弘煜 · 付嘉琪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32334" y="6284595"/>
              <a:ext cx="19090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792A2"/>
                  </a:solidFill>
                  <a:latin typeface="Arial"/>
                  <a:ea typeface="Microsoft YaHei"/>
                  <a:cs typeface="Arial"/>
                </a:rPr>
                <a:t>2026 · GPU trace compression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8" grpId="0"/>
      <p:bldP spid="4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48628"/>
            <a:ext cx="8062912" cy="680084"/>
            <a:chOff x="533400" y="448628"/>
            <a:chExt cx="8062912" cy="680084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57150" cy="323850"/>
            </a:xfrm>
            <a:prstGeom prst="roundRect">
              <a:avLst>
                <a:gd name="adj" fmla="val 50000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448628"/>
              <a:ext cx="788574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完整 trace 成本高，代表 kernel 是加速入口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15352"/>
              <a:ext cx="37945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MOTIVATION · 从逐 kernel 模拟转向结构相似性采样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" y="1200150"/>
            <a:ext cx="11125200" cy="514350"/>
            <a:chOff x="533400" y="1200150"/>
            <a:chExt cx="11125200" cy="514350"/>
          </a:xfrm>
        </p:grpSpPr>
        <p:sp>
          <p:nvSpPr>
            <p:cNvPr id="7" name="Rectangle 7"/>
            <p:cNvSpPr/>
            <p:nvPr/>
          </p:nvSpPr>
          <p:spPr>
            <a:xfrm>
              <a:off x="533400" y="12001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155E75">
                <a:alpha val="8000"/>
              </a:srgbClr>
            </a:solidFill>
            <a:ln w="9525">
              <a:solidFill>
                <a:srgbClr val="D8DEE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3905" y="136874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核心判断：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78305" y="1368742"/>
              <a:ext cx="66098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GPU 仿真加速的关键不是丢弃 trace，而是找到能代表同类结构的 kernel。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2095500"/>
            <a:ext cx="3569731" cy="2476500"/>
            <a:chOff x="533400" y="2095500"/>
            <a:chExt cx="3569731" cy="2476500"/>
          </a:xfrm>
        </p:grpSpPr>
        <p:sp>
          <p:nvSpPr>
            <p:cNvPr id="11" name="Rectangle 11"/>
            <p:cNvSpPr/>
            <p:nvPr/>
          </p:nvSpPr>
          <p:spPr>
            <a:xfrm>
              <a:off x="533400" y="2095500"/>
              <a:ext cx="3333750" cy="2476500"/>
            </a:xfrm>
            <a:prstGeom prst="roundRect">
              <a:avLst>
                <a:gd name="adj" fmla="val 6923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859631" y="2440781"/>
              <a:ext cx="242887" cy="242887"/>
              <a:chOff x="859631" y="2440781"/>
              <a:chExt cx="242887" cy="24288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86619" y="2467769"/>
                <a:ext cx="188913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188913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175419" y="0"/>
                    </a:lnTo>
                    <a:cubicBezTo>
                      <a:pt x="182871" y="0"/>
                      <a:pt x="188913" y="6041"/>
                      <a:pt x="188913" y="13494"/>
                    </a:cubicBezTo>
                    <a:lnTo>
                      <a:pt x="188913" y="175419"/>
                    </a:lnTo>
                    <a:cubicBezTo>
                      <a:pt x="188913" y="182871"/>
                      <a:pt x="182871" y="188913"/>
                      <a:pt x="175419" y="188913"/>
                    </a:cubicBezTo>
                    <a:lnTo>
                      <a:pt x="13494" y="188913"/>
                    </a:lnTo>
                    <a:cubicBezTo>
                      <a:pt x="6041" y="188913"/>
                      <a:pt x="0" y="182871"/>
                      <a:pt x="0" y="175419"/>
                    </a:cubicBezTo>
                    <a:lnTo>
                      <a:pt x="0" y="13494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40594" y="2521744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0"/>
                    </a:moveTo>
                    <a:lnTo>
                      <a:pt x="80962" y="0"/>
                    </a:lnTo>
                    <a:lnTo>
                      <a:pt x="80962" y="80962"/>
                    </a:lnTo>
                    <a:lnTo>
                      <a:pt x="0" y="8096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59631" y="2535238"/>
                <a:ext cx="269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9525">
                    <a:moveTo>
                      <a:pt x="0" y="0"/>
                    </a:moveTo>
                    <a:lnTo>
                      <a:pt x="26987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59631" y="2589212"/>
                <a:ext cx="269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9525">
                    <a:moveTo>
                      <a:pt x="0" y="0"/>
                    </a:moveTo>
                    <a:lnTo>
                      <a:pt x="26987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54088" y="2440781"/>
                <a:ext cx="952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">
                    <a:moveTo>
                      <a:pt x="0" y="0"/>
                    </a:moveTo>
                    <a:lnTo>
                      <a:pt x="0" y="26987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08063" y="2440781"/>
                <a:ext cx="952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">
                    <a:moveTo>
                      <a:pt x="0" y="0"/>
                    </a:moveTo>
                    <a:lnTo>
                      <a:pt x="0" y="26987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75531" y="2535238"/>
                <a:ext cx="269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9525">
                    <a:moveTo>
                      <a:pt x="2698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75531" y="2589212"/>
                <a:ext cx="269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9525">
                    <a:moveTo>
                      <a:pt x="2698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08063" y="2656681"/>
                <a:ext cx="952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">
                    <a:moveTo>
                      <a:pt x="0" y="26987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54088" y="2656681"/>
                <a:ext cx="952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">
                    <a:moveTo>
                      <a:pt x="0" y="26987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767715" y="2658428"/>
              <a:ext cx="1127648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72033"/>
                  </a:solidFill>
                  <a:latin typeface="Consolas"/>
                  <a:ea typeface="Microsoft YaHei"/>
                  <a:cs typeface="Consolas"/>
                </a:rPr>
                <a:t>265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2005" y="3283268"/>
              <a:ext cx="17629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kernel invocation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4862" y="3631406"/>
              <a:ext cx="3298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ResNet-50 一次推理产生大量 kernel 调用，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4862" y="386000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逐个分析会放大模拟成本。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143375" y="2095500"/>
            <a:ext cx="3643670" cy="2476500"/>
            <a:chOff x="4143375" y="2095500"/>
            <a:chExt cx="3643670" cy="2476500"/>
          </a:xfrm>
        </p:grpSpPr>
        <p:sp>
          <p:nvSpPr>
            <p:cNvPr id="28" name="Rectangle 28"/>
            <p:cNvSpPr/>
            <p:nvPr/>
          </p:nvSpPr>
          <p:spPr>
            <a:xfrm>
              <a:off x="4143375" y="2095500"/>
              <a:ext cx="3333750" cy="2476500"/>
            </a:xfrm>
            <a:prstGeom prst="roundRect">
              <a:avLst>
                <a:gd name="adj" fmla="val 6923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4483100" y="2440781"/>
              <a:ext cx="215900" cy="242888"/>
              <a:chOff x="4483100" y="2440781"/>
              <a:chExt cx="215900" cy="24288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483100" y="2440781"/>
                <a:ext cx="215900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80962">
                    <a:moveTo>
                      <a:pt x="0" y="40481"/>
                    </a:moveTo>
                    <a:cubicBezTo>
                      <a:pt x="0" y="62838"/>
                      <a:pt x="48331" y="80962"/>
                      <a:pt x="107950" y="80962"/>
                    </a:cubicBezTo>
                    <a:cubicBezTo>
                      <a:pt x="167569" y="80962"/>
                      <a:pt x="215900" y="62838"/>
                      <a:pt x="215900" y="40481"/>
                    </a:cubicBezTo>
                    <a:cubicBezTo>
                      <a:pt x="215900" y="18124"/>
                      <a:pt x="167569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483100" y="2481262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483100" y="2562225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4377690" y="2658428"/>
              <a:ext cx="1997157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72033"/>
                  </a:solidFill>
                  <a:latin typeface="Consolas"/>
                  <a:ea typeface="Microsoft YaHei"/>
                  <a:cs typeface="Consolas"/>
                </a:rPr>
                <a:t>124876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11980" y="3283268"/>
              <a:ext cx="12350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CTA records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14838" y="3631406"/>
              <a:ext cx="33722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完整轨迹包含 CTA、warp、指令与访存信息，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14838" y="386000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信息丰富但处理代价高。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753350" y="2095500"/>
            <a:ext cx="3905250" cy="2476500"/>
            <a:chOff x="7753350" y="2095500"/>
            <a:chExt cx="3905250" cy="2476500"/>
          </a:xfrm>
        </p:grpSpPr>
        <p:sp>
          <p:nvSpPr>
            <p:cNvPr id="38" name="Rectangle 38"/>
            <p:cNvSpPr/>
            <p:nvPr/>
          </p:nvSpPr>
          <p:spPr>
            <a:xfrm>
              <a:off x="7753350" y="2095500"/>
              <a:ext cx="3905250" cy="2476500"/>
            </a:xfrm>
            <a:prstGeom prst="roundRect">
              <a:avLst>
                <a:gd name="adj" fmla="val 6923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106569" y="2440781"/>
              <a:ext cx="188912" cy="242888"/>
            </a:xfrm>
            <a:custGeom>
              <a:avLst/>
              <a:gdLst/>
              <a:ahLst/>
              <a:cxnLst/>
              <a:rect l="l" t="t" r="r" b="b"/>
              <a:pathLst>
                <a:path w="188912" h="242888">
                  <a:moveTo>
                    <a:pt x="107950" y="0"/>
                  </a:moveTo>
                  <a:lnTo>
                    <a:pt x="107950" y="94456"/>
                  </a:lnTo>
                  <a:lnTo>
                    <a:pt x="188912" y="94456"/>
                  </a:lnTo>
                  <a:lnTo>
                    <a:pt x="80962" y="242888"/>
                  </a:lnTo>
                  <a:lnTo>
                    <a:pt x="80962" y="148431"/>
                  </a:lnTo>
                  <a:lnTo>
                    <a:pt x="0" y="148431"/>
                  </a:lnTo>
                  <a:lnTo>
                    <a:pt x="107950" y="0"/>
                  </a:lnTo>
                </a:path>
              </a:pathLst>
            </a:custGeom>
            <a:noFill/>
            <a:ln w="19050">
              <a:solidFill>
                <a:srgbClr val="22C55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987665" y="2658428"/>
              <a:ext cx="1127648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K=2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21955" y="3283268"/>
              <a:ext cx="23219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representative groups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24812" y="3631406"/>
              <a:ext cx="35036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通过 embedding 聚类，把 kernel 分成主体样本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24812" y="3860006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与少量特殊样本，支撑后续采样模拟。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524000" y="5191125"/>
            <a:ext cx="9144000" cy="742950"/>
            <a:chOff x="1524000" y="5191125"/>
            <a:chExt cx="9144000" cy="742950"/>
          </a:xfrm>
        </p:grpSpPr>
        <p:sp>
          <p:nvSpPr>
            <p:cNvPr id="45" name="Rectangle 45"/>
            <p:cNvSpPr/>
            <p:nvPr/>
          </p:nvSpPr>
          <p:spPr>
            <a:xfrm>
              <a:off x="1524000" y="5191125"/>
              <a:ext cx="9144000" cy="742950"/>
            </a:xfrm>
            <a:prstGeom prst="roundRect">
              <a:avLst>
                <a:gd name="adj" fmla="val 25641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943100" y="5486400"/>
              <a:ext cx="119974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完整 trace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3105150" y="5572125"/>
              <a:ext cx="1181100" cy="9525"/>
            </a:xfrm>
            <a:custGeom>
              <a:avLst/>
              <a:gdLst/>
              <a:ahLst/>
              <a:cxnLst/>
              <a:rect l="l" t="t" r="r" b="b"/>
              <a:pathLst>
                <a:path w="1181100" h="9525">
                  <a:moveTo>
                    <a:pt x="0" y="0"/>
                  </a:moveTo>
                  <a:lnTo>
                    <a:pt x="1181100" y="0"/>
                  </a:lnTo>
                </a:path>
              </a:pathLst>
            </a:custGeom>
            <a:solidFill>
              <a:srgbClr val="000000"/>
            </a:solidFill>
            <a:ln w="23812">
              <a:solidFill>
                <a:srgbClr val="8792A2"/>
              </a:solidFill>
              <a:custDash>
                <a:ds d="320000" sp="240000"/>
              </a:custDash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572000" y="548640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结构表示学习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6153150" y="5572125"/>
              <a:ext cx="1181100" cy="9525"/>
            </a:xfrm>
            <a:custGeom>
              <a:avLst/>
              <a:gdLst/>
              <a:ahLst/>
              <a:cxnLst/>
              <a:rect l="l" t="t" r="r" b="b"/>
              <a:pathLst>
                <a:path w="1181100" h="9525">
                  <a:moveTo>
                    <a:pt x="0" y="0"/>
                  </a:moveTo>
                  <a:lnTo>
                    <a:pt x="1181100" y="0"/>
                  </a:lnTo>
                </a:path>
              </a:pathLst>
            </a:custGeom>
            <a:solidFill>
              <a:srgbClr val="000000"/>
            </a:solidFill>
            <a:ln w="23812">
              <a:solidFill>
                <a:srgbClr val="8792A2"/>
              </a:solidFill>
              <a:custDash>
                <a:ds d="320000" sp="240000"/>
              </a:custDash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648575" y="5486400"/>
              <a:ext cx="17978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代表 kernel 选择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21970" y="6417945"/>
            <a:ext cx="11148060" cy="182880"/>
            <a:chOff x="521970" y="6417945"/>
            <a:chExt cx="11148060" cy="182880"/>
          </a:xfrm>
        </p:grpSpPr>
        <p:sp>
          <p:nvSpPr>
            <p:cNvPr id="52" name="TextBox 52"/>
            <p:cNvSpPr txBox="1"/>
            <p:nvPr/>
          </p:nvSpPr>
          <p:spPr>
            <a:xfrm>
              <a:off x="521970" y="6417945"/>
              <a:ext cx="53398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792A2"/>
                  </a:solidFill>
                  <a:latin typeface="Arial"/>
                  <a:ea typeface="Microsoft YaHei"/>
                  <a:cs typeface="Arial"/>
                </a:rPr>
                <a:t>Source: GCL GPU simulation acceleration report; ResNet-50 reproduction artifacts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39690" y="64179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792A2"/>
                  </a:solidFill>
                  <a:latin typeface="Consolas"/>
                  <a:ea typeface="Microsoft YaHei"/>
                  <a:cs typeface="Consolas"/>
                </a:rPr>
                <a:t>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7" grpId="0"/>
      <p:bldP spid="37" grpId="0"/>
      <p:bldP spid="44" grpId="0"/>
      <p:bldP spid="5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48628"/>
            <a:ext cx="7143948" cy="680084"/>
            <a:chOff x="533400" y="448628"/>
            <a:chExt cx="7143948" cy="680084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57150" cy="323850"/>
            </a:xfrm>
            <a:prstGeom prst="roundRect">
              <a:avLst>
                <a:gd name="adj" fmla="val 50000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448628"/>
              <a:ext cx="696678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整体流程：从 GPU trace 到代表 kernel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15352"/>
              <a:ext cx="37301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METHOD OVERVIEW · 轨迹构图 — 图编码 — 聚类采样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3400" y="1200150"/>
            <a:ext cx="11125200" cy="476250"/>
            <a:chOff x="533400" y="1200150"/>
            <a:chExt cx="11125200" cy="476250"/>
          </a:xfrm>
        </p:grpSpPr>
        <p:sp>
          <p:nvSpPr>
            <p:cNvPr id="7" name="Rectangle 7"/>
            <p:cNvSpPr/>
            <p:nvPr/>
          </p:nvSpPr>
          <p:spPr>
            <a:xfrm>
              <a:off x="533400" y="1200150"/>
              <a:ext cx="11125200" cy="476250"/>
            </a:xfrm>
            <a:prstGeom prst="roundRect">
              <a:avLst>
                <a:gd name="adj" fmla="val 28000"/>
              </a:avLst>
            </a:prstGeom>
            <a:solidFill>
              <a:srgbClr val="155E75">
                <a:alpha val="8000"/>
              </a:srgbClr>
            </a:solidFill>
            <a:ln w="9525">
              <a:solidFill>
                <a:srgbClr val="D8DEE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4858" y="1357789"/>
              <a:ext cx="580501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每一步都有明确的中间产物，因此复现链路可以被审计、复跑和扩展。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00" y="2038350"/>
            <a:ext cx="11125200" cy="3162300"/>
            <a:chOff x="533400" y="2038350"/>
            <a:chExt cx="11125200" cy="3162300"/>
          </a:xfrm>
        </p:grpSpPr>
        <p:sp>
          <p:nvSpPr>
            <p:cNvPr id="10" name="Rectangle 10"/>
            <p:cNvSpPr/>
            <p:nvPr/>
          </p:nvSpPr>
          <p:spPr>
            <a:xfrm>
              <a:off x="533400" y="2038350"/>
              <a:ext cx="11125200" cy="3162300"/>
            </a:xfrm>
            <a:prstGeom prst="roundRect">
              <a:avLst>
                <a:gd name="adj" fmla="val 6627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285875" y="2990850"/>
              <a:ext cx="955357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981075" y="2667000"/>
            <a:ext cx="1273850" cy="2171700"/>
            <a:chOff x="981075" y="2667000"/>
            <a:chExt cx="1273850" cy="2171700"/>
          </a:xfrm>
        </p:grpSpPr>
        <p:sp>
          <p:nvSpPr>
            <p:cNvPr id="13" name="Ellipse 13"/>
            <p:cNvSpPr/>
            <p:nvPr/>
          </p:nvSpPr>
          <p:spPr>
            <a:xfrm>
              <a:off x="1152525" y="2667000"/>
              <a:ext cx="647700" cy="647700"/>
            </a:xfrm>
            <a:prstGeom prst="ellipse">
              <a:avLst/>
            </a:prstGeom>
            <a:solidFill>
              <a:srgbClr val="155E75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374775" y="2876550"/>
              <a:ext cx="203200" cy="228600"/>
              <a:chOff x="1374775" y="2876550"/>
              <a:chExt cx="203200" cy="228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374775" y="2876550"/>
                <a:ext cx="203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200" y="59142"/>
                      <a:pt x="203200" y="38100"/>
                    </a:cubicBezTo>
                    <a:cubicBezTo>
                      <a:pt x="203200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374775" y="291465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374775" y="299085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981075" y="3552825"/>
              <a:ext cx="119974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Trace 采集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5838" y="3917156"/>
              <a:ext cx="12197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ResNet-50 推理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5838" y="4145756"/>
              <a:ext cx="1269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NVBit full trace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90600" y="4514850"/>
              <a:ext cx="1238250" cy="323850"/>
            </a:xfrm>
            <a:prstGeom prst="roundRect">
              <a:avLst>
                <a:gd name="adj" fmla="val 29412"/>
              </a:avLst>
            </a:prstGeom>
            <a:solidFill>
              <a:srgbClr val="F7F9FC"/>
            </a:solidFill>
            <a:ln w="9525">
              <a:solidFill>
                <a:srgbClr val="D8DEE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48466" y="4619149"/>
              <a:ext cx="7225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raw trace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124200" y="2667000"/>
            <a:ext cx="1536739" cy="2171700"/>
            <a:chOff x="3124200" y="2667000"/>
            <a:chExt cx="1536739" cy="2171700"/>
          </a:xfrm>
        </p:grpSpPr>
        <p:sp>
          <p:nvSpPr>
            <p:cNvPr id="24" name="Ellipse 24"/>
            <p:cNvSpPr/>
            <p:nvPr/>
          </p:nvSpPr>
          <p:spPr>
            <a:xfrm>
              <a:off x="3390900" y="2667000"/>
              <a:ext cx="647700" cy="6477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3587750" y="2863850"/>
              <a:ext cx="241300" cy="254000"/>
              <a:chOff x="3587750" y="2863850"/>
              <a:chExt cx="241300" cy="254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3587750" y="30670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50800" y="25400"/>
                    </a:move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714750" y="28638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50800" y="25400"/>
                    </a:move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714750" y="30670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50800" y="25400"/>
                    </a:move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651250" y="29654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50800" y="25400"/>
                    </a:move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3778250" y="29654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50800" y="25400"/>
                    </a:move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626587" y="3012440"/>
                <a:ext cx="36576" cy="58496"/>
              </a:xfrm>
              <a:custGeom>
                <a:avLst/>
                <a:gdLst/>
                <a:ahLst/>
                <a:cxnLst/>
                <a:rect l="l" t="t" r="r" b="b"/>
                <a:pathLst>
                  <a:path w="36576" h="58496">
                    <a:moveTo>
                      <a:pt x="0" y="58496"/>
                    </a:moveTo>
                    <a:lnTo>
                      <a:pt x="36576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3690125" y="2910827"/>
                <a:ext cx="36538" cy="58471"/>
              </a:xfrm>
              <a:custGeom>
                <a:avLst/>
                <a:gdLst/>
                <a:ahLst/>
                <a:cxnLst/>
                <a:rect l="l" t="t" r="r" b="b"/>
                <a:pathLst>
                  <a:path w="36538" h="58471">
                    <a:moveTo>
                      <a:pt x="0" y="58471"/>
                    </a:moveTo>
                    <a:lnTo>
                      <a:pt x="3653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3690176" y="3012504"/>
                <a:ext cx="36525" cy="58420"/>
              </a:xfrm>
              <a:custGeom>
                <a:avLst/>
                <a:gdLst/>
                <a:ahLst/>
                <a:cxnLst/>
                <a:rect l="l" t="t" r="r" b="b"/>
                <a:pathLst>
                  <a:path w="36525" h="58420">
                    <a:moveTo>
                      <a:pt x="0" y="0"/>
                    </a:moveTo>
                    <a:lnTo>
                      <a:pt x="36525" y="5842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753650" y="2910840"/>
                <a:ext cx="36589" cy="58547"/>
              </a:xfrm>
              <a:custGeom>
                <a:avLst/>
                <a:gdLst/>
                <a:ahLst/>
                <a:cxnLst/>
                <a:rect l="l" t="t" r="r" b="b"/>
                <a:pathLst>
                  <a:path w="36589" h="58547">
                    <a:moveTo>
                      <a:pt x="0" y="0"/>
                    </a:moveTo>
                    <a:lnTo>
                      <a:pt x="36589" y="58547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3124200" y="355282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关系图构建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28962" y="3917156"/>
              <a:ext cx="15319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指令节点 + 访存节点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28962" y="4145756"/>
              <a:ext cx="1269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三类 typed edge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143250" y="4514850"/>
              <a:ext cx="1390650" cy="323850"/>
            </a:xfrm>
            <a:prstGeom prst="roundRect">
              <a:avLst>
                <a:gd name="adj" fmla="val 29412"/>
              </a:avLst>
            </a:prstGeom>
            <a:solidFill>
              <a:srgbClr val="F7F9FC"/>
            </a:solidFill>
            <a:ln w="9525">
              <a:solidFill>
                <a:srgbClr val="D8DEE9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391876" y="4619149"/>
              <a:ext cx="893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563EB"/>
                  </a:solidFill>
                  <a:latin typeface="Consolas"/>
                  <a:ea typeface="Microsoft YaHei"/>
                  <a:cs typeface="Consolas"/>
                </a:rPr>
                <a:t>graph bundle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410200" y="2667000"/>
            <a:ext cx="1963935" cy="2171700"/>
            <a:chOff x="5410200" y="2667000"/>
            <a:chExt cx="1963935" cy="2171700"/>
          </a:xfrm>
        </p:grpSpPr>
        <p:sp>
          <p:nvSpPr>
            <p:cNvPr id="41" name="Ellipse 41"/>
            <p:cNvSpPr/>
            <p:nvPr/>
          </p:nvSpPr>
          <p:spPr>
            <a:xfrm>
              <a:off x="5629275" y="2667000"/>
              <a:ext cx="647700" cy="6477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5838825" y="2876550"/>
              <a:ext cx="228600" cy="241300"/>
              <a:chOff x="5838825" y="2876550"/>
              <a:chExt cx="228600" cy="2413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5876925" y="28765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953125" y="2876550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0" y="0"/>
                    </a:moveTo>
                    <a:cubicBezTo>
                      <a:pt x="16929" y="4229"/>
                      <a:pt x="25400" y="29629"/>
                      <a:pt x="25400" y="76200"/>
                    </a:cubicBezTo>
                    <a:cubicBezTo>
                      <a:pt x="25400" y="122771"/>
                      <a:pt x="16929" y="148171"/>
                      <a:pt x="0" y="1524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5927725" y="2876550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25400" y="0"/>
                    </a:moveTo>
                    <a:cubicBezTo>
                      <a:pt x="8471" y="4229"/>
                      <a:pt x="0" y="29629"/>
                      <a:pt x="0" y="76200"/>
                    </a:cubicBezTo>
                    <a:cubicBezTo>
                      <a:pt x="0" y="122771"/>
                      <a:pt x="8471" y="148171"/>
                      <a:pt x="25400" y="1524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876925" y="295275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838825" y="3092450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5978525" y="3092450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5927725" y="30670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5953125" y="30289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5410200" y="3552825"/>
              <a:ext cx="10732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RGCN 编码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414962" y="3917156"/>
              <a:ext cx="1959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relation-aware message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414962" y="4145756"/>
              <a:ext cx="1762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node → kernel readout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429250" y="4514850"/>
              <a:ext cx="1428750" cy="323850"/>
            </a:xfrm>
            <a:prstGeom prst="roundRect">
              <a:avLst>
                <a:gd name="adj" fmla="val 29412"/>
              </a:avLst>
            </a:prstGeom>
            <a:solidFill>
              <a:srgbClr val="F7F9FC"/>
            </a:solidFill>
            <a:ln w="9525">
              <a:solidFill>
                <a:srgbClr val="D8DEE9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79126" y="4619149"/>
              <a:ext cx="928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563EB"/>
                  </a:solidFill>
                  <a:latin typeface="Consolas"/>
                  <a:ea typeface="Microsoft YaHei"/>
                  <a:cs typeface="Consolas"/>
                </a:rPr>
                <a:t>256-d vector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696200" y="2667000"/>
            <a:ext cx="1498783" cy="2171700"/>
            <a:chOff x="7696200" y="2667000"/>
            <a:chExt cx="1498783" cy="2171700"/>
          </a:xfrm>
        </p:grpSpPr>
        <p:sp>
          <p:nvSpPr>
            <p:cNvPr id="57" name="Ellipse 57"/>
            <p:cNvSpPr/>
            <p:nvPr/>
          </p:nvSpPr>
          <p:spPr>
            <a:xfrm>
              <a:off x="7867650" y="2667000"/>
              <a:ext cx="647700" cy="6477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8077200" y="2876550"/>
              <a:ext cx="228600" cy="228600"/>
              <a:chOff x="8077200" y="2876550"/>
              <a:chExt cx="228600" cy="2286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077200" y="28765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0" y="228600"/>
                    </a:lnTo>
                    <a:lnTo>
                      <a:pt x="228600" y="2286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140700" y="30291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1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242300" y="30418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140700" y="29277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191500" y="29785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1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280400" y="29785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1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7696200" y="3552825"/>
              <a:ext cx="14987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K-means 聚类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00962" y="3917156"/>
              <a:ext cx="13676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silhouette 选择 K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700962" y="414575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簇中心距离最小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715250" y="4514850"/>
              <a:ext cx="1162050" cy="323850"/>
            </a:xfrm>
            <a:prstGeom prst="roundRect">
              <a:avLst>
                <a:gd name="adj" fmla="val 29412"/>
              </a:avLst>
            </a:prstGeom>
            <a:solidFill>
              <a:srgbClr val="F7F9FC"/>
            </a:solidFill>
            <a:ln w="9525">
              <a:solidFill>
                <a:srgbClr val="D8DEE9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166414" y="4619149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K=2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867900" y="2667000"/>
            <a:ext cx="1347787" cy="2171700"/>
            <a:chOff x="9867900" y="2667000"/>
            <a:chExt cx="1347787" cy="2171700"/>
          </a:xfrm>
        </p:grpSpPr>
        <p:sp>
          <p:nvSpPr>
            <p:cNvPr id="71" name="Ellipse 71"/>
            <p:cNvSpPr/>
            <p:nvPr/>
          </p:nvSpPr>
          <p:spPr>
            <a:xfrm>
              <a:off x="10106025" y="2667000"/>
              <a:ext cx="647700" cy="647700"/>
            </a:xfrm>
            <a:prstGeom prst="ellipse">
              <a:avLst/>
            </a:prstGeom>
            <a:solidFill>
              <a:srgbClr val="155E75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10305782" y="2871835"/>
              <a:ext cx="243034" cy="243054"/>
              <a:chOff x="10305782" y="2871835"/>
              <a:chExt cx="243034" cy="243054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10417175" y="29781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10366375" y="29273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63500" y="0"/>
                    </a:moveTo>
                    <a:cubicBezTo>
                      <a:pt x="28430" y="0"/>
                      <a:pt x="0" y="28430"/>
                      <a:pt x="0" y="63500"/>
                    </a:cubicBez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10305782" y="2871835"/>
                <a:ext cx="243034" cy="243054"/>
              </a:xfrm>
              <a:custGeom>
                <a:avLst/>
                <a:gdLst/>
                <a:ahLst/>
                <a:cxnLst/>
                <a:rect l="l" t="t" r="r" b="b"/>
                <a:pathLst>
                  <a:path w="243034" h="243054">
                    <a:moveTo>
                      <a:pt x="136793" y="5414"/>
                    </a:moveTo>
                    <a:cubicBezTo>
                      <a:pt x="88537" y="0"/>
                      <a:pt x="42128" y="25668"/>
                      <a:pt x="21064" y="69420"/>
                    </a:cubicBezTo>
                    <a:cubicBezTo>
                      <a:pt x="0" y="113172"/>
                      <a:pt x="8880" y="165458"/>
                      <a:pt x="43208" y="199803"/>
                    </a:cubicBezTo>
                    <a:cubicBezTo>
                      <a:pt x="77535" y="234148"/>
                      <a:pt x="129817" y="243054"/>
                      <a:pt x="173580" y="222013"/>
                    </a:cubicBezTo>
                    <a:cubicBezTo>
                      <a:pt x="217343" y="200971"/>
                      <a:pt x="243034" y="154574"/>
                      <a:pt x="237644" y="10631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10467975" y="28765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lnTo>
                      <a:pt x="0" y="76200"/>
                    </a:lnTo>
                    <a:lnTo>
                      <a:pt x="38100" y="76200"/>
                    </a:lnTo>
                    <a:lnTo>
                      <a:pt x="76200" y="38100"/>
                    </a:lnTo>
                    <a:lnTo>
                      <a:pt x="38100" y="38100"/>
                    </a:lnTo>
                    <a:lnTo>
                      <a:pt x="38100" y="0"/>
                    </a:ln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10429875" y="29527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3810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9867900" y="3552825"/>
              <a:ext cx="126875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代表 kernel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872662" y="39171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每簇选择中心样本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872662" y="41457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减少后续模拟对象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9886950" y="4514850"/>
              <a:ext cx="1200150" cy="323850"/>
            </a:xfrm>
            <a:prstGeom prst="roundRect">
              <a:avLst>
                <a:gd name="adj" fmla="val 29412"/>
              </a:avLst>
            </a:prstGeom>
            <a:solidFill>
              <a:srgbClr val="F7F9FC"/>
            </a:solidFill>
            <a:ln w="9525">
              <a:solidFill>
                <a:srgbClr val="D8DEE9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0200525" y="4619149"/>
              <a:ext cx="573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anchors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21970" y="6417945"/>
            <a:ext cx="11148060" cy="182880"/>
            <a:chOff x="521970" y="6417945"/>
            <a:chExt cx="11148060" cy="182880"/>
          </a:xfrm>
        </p:grpSpPr>
        <p:sp>
          <p:nvSpPr>
            <p:cNvPr id="84" name="TextBox 84"/>
            <p:cNvSpPr txBox="1"/>
            <p:nvPr/>
          </p:nvSpPr>
          <p:spPr>
            <a:xfrm>
              <a:off x="521970" y="6417945"/>
              <a:ext cx="38939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792A2"/>
                  </a:solidFill>
                  <a:latin typeface="Arial"/>
                  <a:ea typeface="Microsoft YaHei"/>
                  <a:cs typeface="Arial"/>
                </a:rPr>
                <a:t>Source: GCL-Sampler workflow; project reproduction design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239690" y="64179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792A2"/>
                  </a:solidFill>
                  <a:latin typeface="Consolas"/>
                  <a:ea typeface="Microsoft YaHei"/>
                  <a:cs typeface="Consolas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23" grpId="0"/>
      <p:bldP spid="40" grpId="0"/>
      <p:bldP spid="56" grpId="0"/>
      <p:bldP spid="70" grpId="0"/>
      <p:bldP spid="8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48628"/>
            <a:ext cx="6752899" cy="680084"/>
            <a:chOff x="533400" y="448628"/>
            <a:chExt cx="6752899" cy="680084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57150" cy="323850"/>
            </a:xfrm>
            <a:prstGeom prst="roundRect">
              <a:avLst>
                <a:gd name="adj" fmla="val 50000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448628"/>
              <a:ext cx="657573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将 kernel 执行轨迹转化为异构关系图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15352"/>
              <a:ext cx="48492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GRAPH CONSTRUCTION · 节点表示执行元素，边表示控制和数据关系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3400" y="1200150"/>
            <a:ext cx="11125200" cy="476250"/>
            <a:chOff x="533400" y="1200150"/>
            <a:chExt cx="11125200" cy="476250"/>
          </a:xfrm>
        </p:grpSpPr>
        <p:sp>
          <p:nvSpPr>
            <p:cNvPr id="7" name="Rectangle 7"/>
            <p:cNvSpPr/>
            <p:nvPr/>
          </p:nvSpPr>
          <p:spPr>
            <a:xfrm>
              <a:off x="533400" y="1200150"/>
              <a:ext cx="11125200" cy="476250"/>
            </a:xfrm>
            <a:prstGeom prst="roundRect">
              <a:avLst>
                <a:gd name="adj" fmla="val 28000"/>
              </a:avLst>
            </a:prstGeom>
            <a:solidFill>
              <a:srgbClr val="155E75">
                <a:alpha val="8000"/>
              </a:srgbClr>
            </a:solidFill>
            <a:ln w="9525">
              <a:solidFill>
                <a:srgbClr val="D8DEE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4858" y="1357789"/>
              <a:ext cx="67547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图结构让模型看到“谁依赖谁、数据从哪里来、结果写到哪里”，不只看指令数量。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66750" y="2047875"/>
            <a:ext cx="6733341" cy="3714750"/>
            <a:chOff x="666750" y="2047875"/>
            <a:chExt cx="6733341" cy="3714750"/>
          </a:xfrm>
        </p:grpSpPr>
        <p:sp>
          <p:nvSpPr>
            <p:cNvPr id="10" name="Rectangle 10"/>
            <p:cNvSpPr/>
            <p:nvPr/>
          </p:nvSpPr>
          <p:spPr>
            <a:xfrm>
              <a:off x="666750" y="2047875"/>
              <a:ext cx="6667500" cy="3714750"/>
            </a:xfrm>
            <a:prstGeom prst="roundRect">
              <a:avLst>
                <a:gd name="adj" fmla="val 5641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1550" y="2295525"/>
              <a:ext cx="24073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Kernel relation graph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8218" y="2618899"/>
              <a:ext cx="17050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5"/>
                  </a:solidFill>
                  <a:latin typeface="Consolas"/>
                  <a:ea typeface="Microsoft YaHei"/>
                  <a:cs typeface="Consolas"/>
                </a:rPr>
                <a:t>G_i = (V_i, E_i, X_i, R_i)</a:t>
              </a:r>
            </a:p>
          </p:txBody>
        </p:sp>
        <p:sp>
          <p:nvSpPr>
            <p:cNvPr id="13" name="Line 13"/>
            <p:cNvSpPr/>
            <p:nvPr/>
          </p:nvSpPr>
          <p:spPr>
            <a:xfrm flipV="1">
              <a:off x="2190750" y="3048000"/>
              <a:ext cx="1285875" cy="381000"/>
            </a:xfrm>
            <a:prstGeom prst="line">
              <a:avLst/>
            </a:prstGeom>
            <a:noFill/>
            <a:ln w="23812">
              <a:solidFill>
                <a:srgbClr val="155E75"/>
              </a:solidFill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>
              <a:off x="3476625" y="3048000"/>
              <a:ext cx="1428750" cy="381000"/>
            </a:xfrm>
            <a:prstGeom prst="line">
              <a:avLst/>
            </a:prstGeom>
            <a:noFill/>
            <a:ln w="23812">
              <a:solidFill>
                <a:srgbClr val="155E75"/>
              </a:solidFill>
              <a:tailEnd type="triangle" w="lg" len="lg"/>
            </a:ln>
          </p:spPr>
        </p:sp>
        <p:sp>
          <p:nvSpPr>
            <p:cNvPr id="15" name="Line 15"/>
            <p:cNvSpPr/>
            <p:nvPr/>
          </p:nvSpPr>
          <p:spPr>
            <a:xfrm flipV="1">
              <a:off x="2190750" y="3905250"/>
              <a:ext cx="1285875" cy="381000"/>
            </a:xfrm>
            <a:prstGeom prst="line">
              <a:avLst/>
            </a:prstGeom>
            <a:noFill/>
            <a:ln w="23812">
              <a:solidFill>
                <a:srgbClr val="2563EB"/>
              </a:solidFill>
              <a:custDash>
                <a:ds d="280000" sp="240000"/>
              </a:custDash>
              <a:tailEnd type="triangle" w="lg" len="lg"/>
            </a:ln>
          </p:spPr>
        </p:sp>
        <p:sp>
          <p:nvSpPr>
            <p:cNvPr id="16" name="Line 16"/>
            <p:cNvSpPr/>
            <p:nvPr/>
          </p:nvSpPr>
          <p:spPr>
            <a:xfrm>
              <a:off x="3476625" y="3905250"/>
              <a:ext cx="1428750" cy="381000"/>
            </a:xfrm>
            <a:prstGeom prst="line">
              <a:avLst/>
            </a:prstGeom>
            <a:noFill/>
            <a:ln w="23812">
              <a:solidFill>
                <a:srgbClr val="2563EB"/>
              </a:solidFill>
              <a:custDash>
                <a:ds d="280000" sp="240000"/>
              </a:custDash>
              <a:tailEnd type="triangle" w="lg" len="lg"/>
            </a:ln>
          </p:spPr>
        </p:sp>
        <p:sp>
          <p:nvSpPr>
            <p:cNvPr id="17" name="Freeform 17"/>
            <p:cNvSpPr/>
            <p:nvPr/>
          </p:nvSpPr>
          <p:spPr>
            <a:xfrm>
              <a:off x="2190750" y="2714625"/>
              <a:ext cx="2714625" cy="714375"/>
            </a:xfrm>
            <a:custGeom>
              <a:avLst/>
              <a:gdLst/>
              <a:ahLst/>
              <a:cxnLst/>
              <a:rect l="l" t="t" r="r" b="b"/>
              <a:pathLst>
                <a:path w="2714625" h="714375">
                  <a:moveTo>
                    <a:pt x="0" y="714375"/>
                  </a:moveTo>
                  <a:cubicBezTo>
                    <a:pt x="190500" y="142875"/>
                    <a:pt x="2381250" y="0"/>
                    <a:pt x="2714625" y="714375"/>
                  </a:cubicBezTo>
                </a:path>
              </a:pathLst>
            </a:custGeom>
            <a:noFill/>
            <a:ln w="23812">
              <a:solidFill>
                <a:srgbClr val="22C55E"/>
              </a:solidFill>
              <a:tailEnd type="triangle" w="lg" len="lg"/>
            </a:ln>
          </p:spPr>
        </p:sp>
        <p:sp>
          <p:nvSpPr>
            <p:cNvPr id="18" name="Freeform 18"/>
            <p:cNvSpPr/>
            <p:nvPr/>
          </p:nvSpPr>
          <p:spPr>
            <a:xfrm>
              <a:off x="2190750" y="4286250"/>
              <a:ext cx="2714625" cy="762000"/>
            </a:xfrm>
            <a:custGeom>
              <a:avLst/>
              <a:gdLst/>
              <a:ahLst/>
              <a:cxnLst/>
              <a:rect l="l" t="t" r="r" b="b"/>
              <a:pathLst>
                <a:path w="2714625" h="762000">
                  <a:moveTo>
                    <a:pt x="0" y="0"/>
                  </a:moveTo>
                  <a:cubicBezTo>
                    <a:pt x="190500" y="666750"/>
                    <a:pt x="2476500" y="762000"/>
                    <a:pt x="2714625" y="0"/>
                  </a:cubicBezTo>
                </a:path>
              </a:pathLst>
            </a:custGeom>
            <a:noFill/>
            <a:ln w="23812">
              <a:solidFill>
                <a:srgbClr val="22C55E"/>
              </a:solidFill>
              <a:tailEnd type="triangle" w="lg" len="lg"/>
            </a:ln>
          </p:spPr>
        </p:sp>
        <p:sp>
          <p:nvSpPr>
            <p:cNvPr id="19" name="Ellipse 19"/>
            <p:cNvSpPr/>
            <p:nvPr/>
          </p:nvSpPr>
          <p:spPr>
            <a:xfrm>
              <a:off x="1885950" y="3124200"/>
              <a:ext cx="609600" cy="609600"/>
            </a:xfrm>
            <a:prstGeom prst="ellipse">
              <a:avLst/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3171825" y="2743200"/>
              <a:ext cx="609600" cy="609600"/>
            </a:xfrm>
            <a:prstGeom prst="ellipse">
              <a:avLst/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600575" y="3124200"/>
              <a:ext cx="609600" cy="609600"/>
            </a:xfrm>
            <a:prstGeom prst="ellipse">
              <a:avLst/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885950" y="3981450"/>
              <a:ext cx="609600" cy="6096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3171825" y="3600450"/>
              <a:ext cx="609600" cy="6096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4600575" y="3981450"/>
              <a:ext cx="609600" cy="6096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190875" y="4705350"/>
              <a:ext cx="876300" cy="438150"/>
            </a:xfrm>
            <a:prstGeom prst="roundRect">
              <a:avLst>
                <a:gd name="adj" fmla="val 30435"/>
              </a:avLst>
            </a:prstGeom>
            <a:solidFill>
              <a:srgbClr val="ECFDF5"/>
            </a:solidFill>
            <a:ln w="9525">
              <a:solidFill>
                <a:srgbClr val="22C55E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074297" y="3366135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LD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91164" y="2985135"/>
              <a:ext cx="3709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FMA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88922" y="3366135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86886" y="4223385"/>
              <a:ext cx="4077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MEM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309566" y="3842385"/>
              <a:ext cx="3341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REG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01511" y="4223385"/>
              <a:ext cx="4077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MEM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14425" y="4860131"/>
              <a:ext cx="1029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pseudo node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59742" y="2971324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control_flow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59742" y="3742849"/>
              <a:ext cx="18403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data_source / destination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59742" y="4523899"/>
              <a:ext cx="11497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memory relation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810500" y="2047875"/>
            <a:ext cx="3993213" cy="3714750"/>
            <a:chOff x="7810500" y="2047875"/>
            <a:chExt cx="3993213" cy="3714750"/>
          </a:xfrm>
        </p:grpSpPr>
        <p:sp>
          <p:nvSpPr>
            <p:cNvPr id="37" name="Rectangle 37"/>
            <p:cNvSpPr/>
            <p:nvPr/>
          </p:nvSpPr>
          <p:spPr>
            <a:xfrm>
              <a:off x="7810500" y="2047875"/>
              <a:ext cx="3848100" cy="3714750"/>
            </a:xfrm>
            <a:prstGeom prst="roundRect">
              <a:avLst>
                <a:gd name="adj" fmla="val 5641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8170862" y="2408238"/>
              <a:ext cx="256382" cy="269875"/>
              <a:chOff x="8170862" y="2408238"/>
              <a:chExt cx="256382" cy="2698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170862" y="262413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26987"/>
                    </a:move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7"/>
                    </a:cubicBezTo>
                    <a:cubicBezTo>
                      <a:pt x="0" y="41892"/>
                      <a:pt x="12083" y="53975"/>
                      <a:pt x="26987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05800" y="240823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26987"/>
                    </a:move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7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05800" y="262413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26987"/>
                    </a:move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7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238331" y="251618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26987"/>
                    </a:move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7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73269" y="251618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26987"/>
                    </a:move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7"/>
                    </a:cubicBezTo>
                    <a:cubicBezTo>
                      <a:pt x="0" y="41892"/>
                      <a:pt x="12083" y="53975"/>
                      <a:pt x="26987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12126" y="2566114"/>
                <a:ext cx="38862" cy="62152"/>
              </a:xfrm>
              <a:custGeom>
                <a:avLst/>
                <a:gdLst/>
                <a:ahLst/>
                <a:cxnLst/>
                <a:rect l="l" t="t" r="r" b="b"/>
                <a:pathLst>
                  <a:path w="38862" h="62152">
                    <a:moveTo>
                      <a:pt x="0" y="62152"/>
                    </a:moveTo>
                    <a:lnTo>
                      <a:pt x="38862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279636" y="2458151"/>
                <a:ext cx="38822" cy="62125"/>
              </a:xfrm>
              <a:custGeom>
                <a:avLst/>
                <a:gdLst/>
                <a:ahLst/>
                <a:cxnLst/>
                <a:rect l="l" t="t" r="r" b="b"/>
                <a:pathLst>
                  <a:path w="38822" h="62125">
                    <a:moveTo>
                      <a:pt x="0" y="62125"/>
                    </a:moveTo>
                    <a:lnTo>
                      <a:pt x="38822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79690" y="2566182"/>
                <a:ext cx="38808" cy="62071"/>
              </a:xfrm>
              <a:custGeom>
                <a:avLst/>
                <a:gdLst/>
                <a:ahLst/>
                <a:cxnLst/>
                <a:rect l="l" t="t" r="r" b="b"/>
                <a:pathLst>
                  <a:path w="38808" h="62071">
                    <a:moveTo>
                      <a:pt x="0" y="0"/>
                    </a:moveTo>
                    <a:lnTo>
                      <a:pt x="38808" y="62071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47131" y="2458164"/>
                <a:ext cx="38875" cy="62206"/>
              </a:xfrm>
              <a:custGeom>
                <a:avLst/>
                <a:gdLst/>
                <a:ahLst/>
                <a:cxnLst/>
                <a:rect l="l" t="t" r="r" b="b"/>
                <a:pathLst>
                  <a:path w="38875" h="62206">
                    <a:moveTo>
                      <a:pt x="0" y="0"/>
                    </a:moveTo>
                    <a:lnTo>
                      <a:pt x="38875" y="62206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8551545" y="2441258"/>
              <a:ext cx="206616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图中编码了什么？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8134350" y="3009900"/>
              <a:ext cx="3631025" cy="552450"/>
              <a:chOff x="8134350" y="3009900"/>
              <a:chExt cx="3631025" cy="55245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8134350" y="3009900"/>
                <a:ext cx="3048000" cy="552450"/>
              </a:xfrm>
              <a:prstGeom prst="roundRect">
                <a:avLst>
                  <a:gd name="adj" fmla="val 24138"/>
                </a:avLst>
              </a:prstGeom>
              <a:solidFill>
                <a:srgbClr val="F7F9FC"/>
              </a:solidFill>
              <a:ln w="9525">
                <a:solidFill>
                  <a:srgbClr val="D8DEE9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8347710" y="3108960"/>
                <a:ext cx="5549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节点 V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349615" y="3334702"/>
                <a:ext cx="34157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5"/>
                    </a:solidFill>
                    <a:latin typeface="Arial"/>
                    <a:ea typeface="Microsoft YaHei"/>
                    <a:cs typeface="Arial"/>
                  </a:rPr>
                  <a:t>指令、访存引用、寄存器或 memory pseudo node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8134350" y="3752850"/>
              <a:ext cx="3669363" cy="723900"/>
              <a:chOff x="8134350" y="3752850"/>
              <a:chExt cx="3669363" cy="7239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8134350" y="3752850"/>
                <a:ext cx="3048000" cy="723900"/>
              </a:xfrm>
              <a:prstGeom prst="roundRect">
                <a:avLst>
                  <a:gd name="adj" fmla="val 18421"/>
                </a:avLst>
              </a:prstGeom>
              <a:solidFill>
                <a:srgbClr val="F7F9FC"/>
              </a:solidFill>
              <a:ln w="9525">
                <a:solidFill>
                  <a:srgbClr val="D8DEE9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8347710" y="3870960"/>
                <a:ext cx="110701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边 E / 关系 R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349615" y="4115752"/>
                <a:ext cx="34540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5"/>
                    </a:solidFill>
                    <a:latin typeface="Arial"/>
                    <a:ea typeface="Microsoft YaHei"/>
                    <a:cs typeface="Arial"/>
                  </a:rPr>
                  <a:t>control_flow, data_source, data_destination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8134350" y="4667250"/>
              <a:ext cx="3048000" cy="552450"/>
              <a:chOff x="8134350" y="4667250"/>
              <a:chExt cx="3048000" cy="55245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8134350" y="4667250"/>
                <a:ext cx="3048000" cy="552450"/>
              </a:xfrm>
              <a:prstGeom prst="roundRect">
                <a:avLst>
                  <a:gd name="adj" fmla="val 24138"/>
                </a:avLst>
              </a:prstGeom>
              <a:solidFill>
                <a:srgbClr val="F7F9FC"/>
              </a:solidFill>
              <a:ln w="9525">
                <a:solidFill>
                  <a:srgbClr val="D8DEE9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8347710" y="4766310"/>
                <a:ext cx="5549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特征 X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349615" y="4992052"/>
                <a:ext cx="26336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5"/>
                    </a:solidFill>
                    <a:latin typeface="Arial"/>
                    <a:ea typeface="Microsoft YaHei"/>
                    <a:cs typeface="Arial"/>
                  </a:rPr>
                  <a:t>指令类型、访存类型、操作数相关信息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521970" y="6417945"/>
            <a:ext cx="11148060" cy="182880"/>
            <a:chOff x="521970" y="6417945"/>
            <a:chExt cx="11148060" cy="182880"/>
          </a:xfrm>
        </p:grpSpPr>
        <p:sp>
          <p:nvSpPr>
            <p:cNvPr id="62" name="TextBox 62"/>
            <p:cNvSpPr txBox="1"/>
            <p:nvPr/>
          </p:nvSpPr>
          <p:spPr>
            <a:xfrm>
              <a:off x="521970" y="6417945"/>
              <a:ext cx="37624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792A2"/>
                  </a:solidFill>
                  <a:latin typeface="Arial"/>
                  <a:ea typeface="Microsoft YaHei"/>
                  <a:cs typeface="Arial"/>
                </a:rPr>
                <a:t>Source: GCL report, section 3.2 Kernel 执行轨迹图结构表示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239690" y="64179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792A2"/>
                  </a:solidFill>
                  <a:latin typeface="Consolas"/>
                  <a:ea typeface="Microsoft YaHei"/>
                  <a:cs typeface="Consolas"/>
                </a:rPr>
                <a:t>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6" grpId="0"/>
      <p:bldP spid="6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48628"/>
            <a:ext cx="6694241" cy="680084"/>
            <a:chOff x="533400" y="448628"/>
            <a:chExt cx="6694241" cy="680084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57150" cy="323850"/>
            </a:xfrm>
            <a:prstGeom prst="roundRect">
              <a:avLst>
                <a:gd name="adj" fmla="val 50000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448628"/>
              <a:ext cx="651707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RGCN 用不同关系矩阵保留边类型语义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15352"/>
              <a:ext cx="62984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RGCN ENCODER · control_flow / data_source / data_destination 分别参与消息传递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3400" y="1200150"/>
            <a:ext cx="11125200" cy="476250"/>
            <a:chOff x="533400" y="1200150"/>
            <a:chExt cx="11125200" cy="476250"/>
          </a:xfrm>
        </p:grpSpPr>
        <p:sp>
          <p:nvSpPr>
            <p:cNvPr id="7" name="Rectangle 7"/>
            <p:cNvSpPr/>
            <p:nvPr/>
          </p:nvSpPr>
          <p:spPr>
            <a:xfrm>
              <a:off x="533400" y="1200150"/>
              <a:ext cx="11125200" cy="476250"/>
            </a:xfrm>
            <a:prstGeom prst="roundRect">
              <a:avLst>
                <a:gd name="adj" fmla="val 28000"/>
              </a:avLst>
            </a:prstGeom>
            <a:solidFill>
              <a:srgbClr val="155E75">
                <a:alpha val="8000"/>
              </a:srgbClr>
            </a:solidFill>
            <a:ln w="9525">
              <a:solidFill>
                <a:srgbClr val="D8DEE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4858" y="1357789"/>
              <a:ext cx="557224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普通 GCN 会把边混成一种连接；RGCN 让三类关系在参数上可区分。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66750" y="2047875"/>
            <a:ext cx="10858500" cy="2905125"/>
            <a:chOff x="666750" y="2047875"/>
            <a:chExt cx="10858500" cy="2905125"/>
          </a:xfrm>
        </p:grpSpPr>
        <p:sp>
          <p:nvSpPr>
            <p:cNvPr id="10" name="Rectangle 10"/>
            <p:cNvSpPr/>
            <p:nvPr/>
          </p:nvSpPr>
          <p:spPr>
            <a:xfrm>
              <a:off x="666750" y="2047875"/>
              <a:ext cx="10858500" cy="2905125"/>
            </a:xfrm>
            <a:prstGeom prst="roundRect">
              <a:avLst>
                <a:gd name="adj" fmla="val 7213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1066800" y="2476500"/>
              <a:ext cx="2381250" cy="2000250"/>
              <a:chOff x="1066800" y="2476500"/>
              <a:chExt cx="2381250" cy="20002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1066800" y="2476500"/>
                <a:ext cx="2381250" cy="2000250"/>
              </a:xfrm>
              <a:prstGeom prst="roundRect">
                <a:avLst>
                  <a:gd name="adj" fmla="val 8571"/>
                </a:avLst>
              </a:prstGeom>
              <a:solidFill>
                <a:srgbClr val="F7F9FC"/>
              </a:solidFill>
              <a:ln w="9525">
                <a:solidFill>
                  <a:srgbClr val="D8DEE9"/>
                </a:solidFill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1360488" y="2789238"/>
                <a:ext cx="256381" cy="269875"/>
                <a:chOff x="1360488" y="2789238"/>
                <a:chExt cx="256381" cy="269875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360488" y="300513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53975" y="26987"/>
                      </a:moveTo>
                      <a:cubicBezTo>
                        <a:pt x="53975" y="12083"/>
                        <a:pt x="41892" y="0"/>
                        <a:pt x="26987" y="0"/>
                      </a:cubicBezTo>
                      <a:cubicBezTo>
                        <a:pt x="12083" y="0"/>
                        <a:pt x="0" y="12083"/>
                        <a:pt x="0" y="26987"/>
                      </a:cubicBezTo>
                      <a:cubicBezTo>
                        <a:pt x="0" y="41892"/>
                        <a:pt x="12083" y="53975"/>
                        <a:pt x="26987" y="53975"/>
                      </a:cubicBezTo>
                      <a:cubicBezTo>
                        <a:pt x="41892" y="53975"/>
                        <a:pt x="53975" y="41892"/>
                        <a:pt x="53975" y="26987"/>
                      </a:cubicBez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495425" y="278923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53975" y="26988"/>
                      </a:move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495425" y="300513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53975" y="26987"/>
                      </a:move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7"/>
                      </a:cubicBez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7"/>
                      </a:cubicBez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427956" y="289718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53975" y="26987"/>
                      </a:move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7"/>
                      </a:cubicBez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7"/>
                      </a:cubicBez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562894" y="289718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53975" y="26987"/>
                      </a:moveTo>
                      <a:cubicBezTo>
                        <a:pt x="53975" y="12083"/>
                        <a:pt x="41892" y="0"/>
                        <a:pt x="26987" y="0"/>
                      </a:cubicBezTo>
                      <a:cubicBezTo>
                        <a:pt x="12083" y="0"/>
                        <a:pt x="0" y="12083"/>
                        <a:pt x="0" y="26987"/>
                      </a:cubicBezTo>
                      <a:cubicBezTo>
                        <a:pt x="0" y="41892"/>
                        <a:pt x="12083" y="53975"/>
                        <a:pt x="26987" y="53975"/>
                      </a:cubicBezTo>
                      <a:cubicBezTo>
                        <a:pt x="41892" y="53975"/>
                        <a:pt x="53975" y="41892"/>
                        <a:pt x="53975" y="26987"/>
                      </a:cubicBez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401751" y="2947114"/>
                  <a:ext cx="38862" cy="62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62" h="62152">
                      <a:moveTo>
                        <a:pt x="0" y="62152"/>
                      </a:moveTo>
                      <a:lnTo>
                        <a:pt x="38862" y="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469261" y="2839151"/>
                  <a:ext cx="38822" cy="6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22" h="62125">
                      <a:moveTo>
                        <a:pt x="0" y="62125"/>
                      </a:moveTo>
                      <a:lnTo>
                        <a:pt x="38822" y="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469315" y="2947182"/>
                  <a:ext cx="38808" cy="620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08" h="62071">
                      <a:moveTo>
                        <a:pt x="0" y="0"/>
                      </a:moveTo>
                      <a:lnTo>
                        <a:pt x="38808" y="62071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536756" y="2839164"/>
                  <a:ext cx="38875" cy="62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75" h="62206">
                      <a:moveTo>
                        <a:pt x="0" y="0"/>
                      </a:moveTo>
                      <a:lnTo>
                        <a:pt x="38875" y="62206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1312545" y="3193732"/>
                <a:ext cx="150949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Typed Graph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319212" y="3574256"/>
                <a:ext cx="8254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475"/>
                    </a:solidFill>
                    <a:latin typeface="Arial"/>
                    <a:ea typeface="Microsoft YaHei"/>
                    <a:cs typeface="Arial"/>
                  </a:rPr>
                  <a:t>节点特征 X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319212" y="3802856"/>
                <a:ext cx="6611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475"/>
                    </a:solidFill>
                    <a:latin typeface="Arial"/>
                    <a:ea typeface="Microsoft YaHei"/>
                    <a:cs typeface="Arial"/>
                  </a:rPr>
                  <a:t>边索引 E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319212" y="4031456"/>
                <a:ext cx="8254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475"/>
                    </a:solidFill>
                    <a:latin typeface="Arial"/>
                    <a:ea typeface="Microsoft YaHei"/>
                    <a:cs typeface="Arial"/>
                  </a:rPr>
                  <a:t>关系类型 R</a:t>
                </a:r>
              </a:p>
            </p:txBody>
          </p:sp>
        </p:grpSp>
        <p:sp>
          <p:nvSpPr>
            <p:cNvPr id="27" name="Line 27"/>
            <p:cNvSpPr/>
            <p:nvPr/>
          </p:nvSpPr>
          <p:spPr>
            <a:xfrm>
              <a:off x="3638550" y="3476625"/>
              <a:ext cx="723900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4476750" y="2305050"/>
              <a:ext cx="4464843" cy="2343150"/>
              <a:chOff x="4476750" y="2305050"/>
              <a:chExt cx="4464843" cy="23431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4476750" y="2305050"/>
                <a:ext cx="3257550" cy="2343150"/>
              </a:xfrm>
              <a:prstGeom prst="roundRect">
                <a:avLst>
                  <a:gd name="adj" fmla="val 8943"/>
                </a:avLst>
              </a:prstGeom>
              <a:solidFill>
                <a:srgbClr val="FFFFFF"/>
              </a:solidFill>
              <a:ln w="19050">
                <a:solidFill>
                  <a:srgbClr val="2563EB"/>
                </a:solidFill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4845844" y="2693194"/>
                <a:ext cx="271463" cy="286543"/>
                <a:chOff x="4845844" y="2693194"/>
                <a:chExt cx="271463" cy="286543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4891088" y="2693194"/>
                  <a:ext cx="180975" cy="18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5" h="180975">
                      <a:moveTo>
                        <a:pt x="0" y="90488"/>
                      </a:moveTo>
                      <a:cubicBezTo>
                        <a:pt x="0" y="140462"/>
                        <a:pt x="40513" y="180975"/>
                        <a:pt x="90488" y="180975"/>
                      </a:cubicBezTo>
                      <a:cubicBezTo>
                        <a:pt x="140462" y="180975"/>
                        <a:pt x="180975" y="140462"/>
                        <a:pt x="180975" y="90488"/>
                      </a:cubicBezTo>
                      <a:cubicBezTo>
                        <a:pt x="180975" y="40513"/>
                        <a:pt x="140462" y="0"/>
                        <a:pt x="90488" y="0"/>
                      </a:cubicBezTo>
                      <a:cubicBezTo>
                        <a:pt x="40513" y="0"/>
                        <a:pt x="0" y="40513"/>
                        <a:pt x="0" y="90488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981575" y="2693194"/>
                  <a:ext cx="30162" cy="18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2" h="180975">
                      <a:moveTo>
                        <a:pt x="0" y="0"/>
                      </a:moveTo>
                      <a:cubicBezTo>
                        <a:pt x="20103" y="5022"/>
                        <a:pt x="30162" y="35185"/>
                        <a:pt x="30162" y="90488"/>
                      </a:cubicBezTo>
                      <a:cubicBezTo>
                        <a:pt x="30162" y="145790"/>
                        <a:pt x="20103" y="175953"/>
                        <a:pt x="0" y="180975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951412" y="2693194"/>
                  <a:ext cx="30162" cy="18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2" h="180975">
                      <a:moveTo>
                        <a:pt x="30162" y="0"/>
                      </a:moveTo>
                      <a:cubicBezTo>
                        <a:pt x="10059" y="5022"/>
                        <a:pt x="0" y="35185"/>
                        <a:pt x="0" y="90488"/>
                      </a:cubicBezTo>
                      <a:cubicBezTo>
                        <a:pt x="0" y="145790"/>
                        <a:pt x="10059" y="175953"/>
                        <a:pt x="30162" y="180975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891088" y="2783681"/>
                  <a:ext cx="1809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5" h="9525">
                      <a:moveTo>
                        <a:pt x="0" y="0"/>
                      </a:moveTo>
                      <a:lnTo>
                        <a:pt x="180975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845844" y="2949575"/>
                  <a:ext cx="10556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569" h="9525">
                      <a:moveTo>
                        <a:pt x="0" y="0"/>
                      </a:moveTo>
                      <a:lnTo>
                        <a:pt x="105569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5011738" y="2949575"/>
                  <a:ext cx="10556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569" h="9525">
                      <a:moveTo>
                        <a:pt x="0" y="0"/>
                      </a:moveTo>
                      <a:lnTo>
                        <a:pt x="105569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951412" y="2919412"/>
                  <a:ext cx="60325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25" h="60325">
                      <a:moveTo>
                        <a:pt x="0" y="30163"/>
                      </a:moveTo>
                      <a:cubicBezTo>
                        <a:pt x="0" y="46821"/>
                        <a:pt x="13504" y="60325"/>
                        <a:pt x="30162" y="60325"/>
                      </a:cubicBezTo>
                      <a:cubicBezTo>
                        <a:pt x="46821" y="60325"/>
                        <a:pt x="60325" y="46821"/>
                        <a:pt x="60325" y="30163"/>
                      </a:cubicBezTo>
                      <a:cubicBezTo>
                        <a:pt x="60325" y="13504"/>
                        <a:pt x="46821" y="0"/>
                        <a:pt x="30162" y="0"/>
                      </a:cubicBezTo>
                      <a:cubicBezTo>
                        <a:pt x="13504" y="0"/>
                        <a:pt x="0" y="13504"/>
                        <a:pt x="0" y="30163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981575" y="2874169"/>
                  <a:ext cx="9525" cy="45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5244">
                      <a:moveTo>
                        <a:pt x="0" y="0"/>
                      </a:moveTo>
                      <a:lnTo>
                        <a:pt x="0" y="45244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5311140" y="2691765"/>
                <a:ext cx="172953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3-layer RGCN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4838700" y="3257550"/>
                <a:ext cx="78105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EFF6FF"/>
              </a:solidFill>
              <a:ln w="9525">
                <a:solidFill>
                  <a:srgbClr val="D8DEE9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5810250" y="3257550"/>
                <a:ext cx="78105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EFF6FF"/>
              </a:solidFill>
              <a:ln w="9525">
                <a:solidFill>
                  <a:srgbClr val="D8DEE9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6781800" y="3257550"/>
                <a:ext cx="59055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EFF6FF"/>
              </a:solidFill>
              <a:ln w="9525">
                <a:solidFill>
                  <a:srgbClr val="D8DEE9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141616" y="3440906"/>
                <a:ext cx="17521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R1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091601" y="3440906"/>
                <a:ext cx="21834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R2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967901" y="3440906"/>
                <a:ext cx="21834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R3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805362" y="3974306"/>
                <a:ext cx="41362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475"/>
                    </a:solidFill>
                    <a:latin typeface="Arial"/>
                    <a:ea typeface="Microsoft YaHei"/>
                    <a:cs typeface="Arial"/>
                  </a:rPr>
                  <a:t>每种关系使用独立变换，聚合邻居消息并更新节点表示。</a:t>
                </a:r>
              </a:p>
            </p:txBody>
          </p:sp>
        </p:grpSp>
        <p:sp>
          <p:nvSpPr>
            <p:cNvPr id="47" name="Line 47"/>
            <p:cNvSpPr/>
            <p:nvPr/>
          </p:nvSpPr>
          <p:spPr>
            <a:xfrm>
              <a:off x="7924800" y="3476625"/>
              <a:ext cx="723900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8763000" y="2476500"/>
              <a:ext cx="2381250" cy="2000250"/>
              <a:chOff x="8763000" y="2476500"/>
              <a:chExt cx="2381250" cy="200025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8763000" y="2476500"/>
                <a:ext cx="2381250" cy="2000250"/>
              </a:xfrm>
              <a:prstGeom prst="roundRect">
                <a:avLst>
                  <a:gd name="adj" fmla="val 8571"/>
                </a:avLst>
              </a:prstGeom>
              <a:solidFill>
                <a:srgbClr val="F7F9FC"/>
              </a:solidFill>
              <a:ln w="9525">
                <a:solidFill>
                  <a:srgbClr val="D8DEE9"/>
                </a:solidFill>
              </a:ln>
            </p:spPr>
          </p:sp>
          <p:grpSp>
            <p:nvGrpSpPr>
              <p:cNvPr id="51" name="Group 51"/>
              <p:cNvGrpSpPr/>
              <p:nvPr/>
            </p:nvGrpSpPr>
            <p:grpSpPr>
              <a:xfrm>
                <a:off x="9083666" y="2816225"/>
                <a:ext cx="215909" cy="215900"/>
                <a:chOff x="9083666" y="2816225"/>
                <a:chExt cx="215909" cy="215900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9137650" y="2870200"/>
                  <a:ext cx="161925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161925">
                      <a:moveTo>
                        <a:pt x="148431" y="3616"/>
                      </a:moveTo>
                      <a:cubicBezTo>
                        <a:pt x="156781" y="8437"/>
                        <a:pt x="161925" y="17346"/>
                        <a:pt x="161925" y="26988"/>
                      </a:cubicBezTo>
                      <a:lnTo>
                        <a:pt x="161925" y="134938"/>
                      </a:lnTo>
                      <a:cubicBezTo>
                        <a:pt x="161925" y="149842"/>
                        <a:pt x="149842" y="161925"/>
                        <a:pt x="134937" y="161925"/>
                      </a:cubicBezTo>
                      <a:lnTo>
                        <a:pt x="26987" y="161925"/>
                      </a:lnTo>
                      <a:cubicBezTo>
                        <a:pt x="12083" y="161925"/>
                        <a:pt x="0" y="149842"/>
                        <a:pt x="0" y="134938"/>
                      </a:cubicBezTo>
                      <a:lnTo>
                        <a:pt x="0" y="26988"/>
                      </a:lnTo>
                      <a:cubicBezTo>
                        <a:pt x="0" y="12083"/>
                        <a:pt x="12083" y="0"/>
                        <a:pt x="26987" y="0"/>
                      </a:cubicBezTo>
                      <a:lnTo>
                        <a:pt x="67469" y="0"/>
                      </a:lnTo>
                    </a:path>
                  </a:pathLst>
                </a:custGeom>
                <a:noFill/>
                <a:ln w="19050">
                  <a:solidFill>
                    <a:srgbClr val="22C55E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9083666" y="2816225"/>
                  <a:ext cx="161934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34" h="161925">
                      <a:moveTo>
                        <a:pt x="13503" y="158336"/>
                      </a:moveTo>
                      <a:cubicBezTo>
                        <a:pt x="5145" y="153510"/>
                        <a:pt x="0" y="144589"/>
                        <a:pt x="9" y="134937"/>
                      </a:cubicBezTo>
                      <a:lnTo>
                        <a:pt x="9" y="26987"/>
                      </a:lnTo>
                      <a:cubicBezTo>
                        <a:pt x="9" y="12083"/>
                        <a:pt x="12092" y="0"/>
                        <a:pt x="26997" y="0"/>
                      </a:cubicBezTo>
                      <a:lnTo>
                        <a:pt x="134947" y="0"/>
                      </a:lnTo>
                      <a:cubicBezTo>
                        <a:pt x="149852" y="0"/>
                        <a:pt x="161934" y="12083"/>
                        <a:pt x="161934" y="26987"/>
                      </a:cubicBezTo>
                      <a:lnTo>
                        <a:pt x="161934" y="134937"/>
                      </a:lnTo>
                      <a:cubicBezTo>
                        <a:pt x="161934" y="149842"/>
                        <a:pt x="149852" y="161925"/>
                        <a:pt x="134947" y="161925"/>
                      </a:cubicBezTo>
                      <a:lnTo>
                        <a:pt x="94466" y="161925"/>
                      </a:lnTo>
                    </a:path>
                  </a:pathLst>
                </a:custGeom>
                <a:noFill/>
                <a:ln w="19050">
                  <a:solidFill>
                    <a:srgbClr val="22C55E"/>
                  </a:solidFill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9008745" y="3193732"/>
                <a:ext cx="212942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Kernel Embedding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987790" y="3453765"/>
                <a:ext cx="1197159" cy="67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256d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015412" y="4050506"/>
                <a:ext cx="13430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475"/>
                    </a:solidFill>
                    <a:latin typeface="Arial"/>
                    <a:ea typeface="Microsoft YaHei"/>
                    <a:cs typeface="Arial"/>
                  </a:rPr>
                  <a:t>固定维度向量表示</a:t>
                </a:r>
              </a:p>
            </p:txBody>
          </p:sp>
        </p:grpSp>
      </p:grpSp>
      <p:grpSp>
        <p:nvGrpSpPr>
          <p:cNvPr id="69" name="Group 69"/>
          <p:cNvGrpSpPr/>
          <p:nvPr/>
        </p:nvGrpSpPr>
        <p:grpSpPr>
          <a:xfrm>
            <a:off x="1047750" y="5314950"/>
            <a:ext cx="9639300" cy="747712"/>
            <a:chOff x="1047750" y="5314950"/>
            <a:chExt cx="9639300" cy="747712"/>
          </a:xfrm>
        </p:grpSpPr>
        <p:sp>
          <p:nvSpPr>
            <p:cNvPr id="57" name="Rectangle 57"/>
            <p:cNvSpPr/>
            <p:nvPr/>
          </p:nvSpPr>
          <p:spPr>
            <a:xfrm>
              <a:off x="1047750" y="5314950"/>
              <a:ext cx="2209800" cy="704850"/>
            </a:xfrm>
            <a:prstGeom prst="roundRect">
              <a:avLst>
                <a:gd name="adj" fmla="val 21622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3524250" y="5314950"/>
              <a:ext cx="2209800" cy="704850"/>
            </a:xfrm>
            <a:prstGeom prst="roundRect">
              <a:avLst>
                <a:gd name="adj" fmla="val 21622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000750" y="5314950"/>
              <a:ext cx="2209800" cy="704850"/>
            </a:xfrm>
            <a:prstGeom prst="roundRect">
              <a:avLst>
                <a:gd name="adj" fmla="val 21622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8477250" y="5314950"/>
              <a:ext cx="2209800" cy="704850"/>
            </a:xfrm>
            <a:prstGeom prst="roundRect">
              <a:avLst>
                <a:gd name="adj" fmla="val 21622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243965" y="5487352"/>
              <a:ext cx="7397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input_dim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232535" y="5666422"/>
              <a:ext cx="37847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64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720465" y="5487352"/>
              <a:ext cx="8241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hidden_dim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709035" y="5666422"/>
              <a:ext cx="46818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128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196965" y="5487352"/>
              <a:ext cx="11308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relation_count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185535" y="5666422"/>
              <a:ext cx="2140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673465" y="5487352"/>
              <a:ext cx="325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loss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662035" y="5666422"/>
              <a:ext cx="112606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InfoNCE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21970" y="6417945"/>
            <a:ext cx="11148060" cy="182880"/>
            <a:chOff x="521970" y="6417945"/>
            <a:chExt cx="11148060" cy="182880"/>
          </a:xfrm>
        </p:grpSpPr>
        <p:sp>
          <p:nvSpPr>
            <p:cNvPr id="70" name="TextBox 70"/>
            <p:cNvSpPr txBox="1"/>
            <p:nvPr/>
          </p:nvSpPr>
          <p:spPr>
            <a:xfrm>
              <a:off x="521970" y="6417945"/>
              <a:ext cx="38807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792A2"/>
                  </a:solidFill>
                  <a:latin typeface="Arial"/>
                  <a:ea typeface="Microsoft YaHei"/>
                  <a:cs typeface="Arial"/>
                </a:rPr>
                <a:t>Source: RGCN training manifest; GCL report section 3.3-3.4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239690" y="64179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792A2"/>
                  </a:solidFill>
                  <a:latin typeface="Consolas"/>
                  <a:ea typeface="Microsoft YaHei"/>
                  <a:cs typeface="Consolas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6" grpId="0"/>
      <p:bldP spid="6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48628"/>
            <a:ext cx="7104843" cy="680084"/>
            <a:chOff x="533400" y="448628"/>
            <a:chExt cx="7104843" cy="680084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57150" cy="323850"/>
            </a:xfrm>
            <a:prstGeom prst="roundRect">
              <a:avLst>
                <a:gd name="adj" fmla="val 50000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448628"/>
              <a:ext cx="692767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从节点表示逐级读出 kernel embedding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15352"/>
              <a:ext cx="48331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READOUT HIERARCHY · node → warp → CTA → selected SM → kernel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3400" y="1200150"/>
            <a:ext cx="11125200" cy="476250"/>
            <a:chOff x="533400" y="1200150"/>
            <a:chExt cx="11125200" cy="476250"/>
          </a:xfrm>
        </p:grpSpPr>
        <p:sp>
          <p:nvSpPr>
            <p:cNvPr id="7" name="Rectangle 7"/>
            <p:cNvSpPr/>
            <p:nvPr/>
          </p:nvSpPr>
          <p:spPr>
            <a:xfrm>
              <a:off x="533400" y="1200150"/>
              <a:ext cx="11125200" cy="476250"/>
            </a:xfrm>
            <a:prstGeom prst="roundRect">
              <a:avLst>
                <a:gd name="adj" fmla="val 28000"/>
              </a:avLst>
            </a:prstGeom>
            <a:solidFill>
              <a:srgbClr val="155E75">
                <a:alpha val="8000"/>
              </a:srgbClr>
            </a:solidFill>
            <a:ln w="9525">
              <a:solidFill>
                <a:srgbClr val="D8DEE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4858" y="1357789"/>
              <a:ext cx="62239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层级读出贴合 GPU 执行结构，避免把所有节点简单平均后丢失执行上下文。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2095500"/>
            <a:ext cx="6572250" cy="3686175"/>
            <a:chOff x="762000" y="2095500"/>
            <a:chExt cx="6572250" cy="3686175"/>
          </a:xfrm>
        </p:grpSpPr>
        <p:sp>
          <p:nvSpPr>
            <p:cNvPr id="10" name="Rectangle 10"/>
            <p:cNvSpPr/>
            <p:nvPr/>
          </p:nvSpPr>
          <p:spPr>
            <a:xfrm>
              <a:off x="762000" y="2095500"/>
              <a:ext cx="6572250" cy="3676650"/>
            </a:xfrm>
            <a:prstGeom prst="roundRect">
              <a:avLst>
                <a:gd name="adj" fmla="val 5699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1762125" y="2495550"/>
              <a:ext cx="4572000" cy="571500"/>
            </a:xfrm>
            <a:custGeom>
              <a:avLst/>
              <a:gdLst/>
              <a:ahLst/>
              <a:cxnLst/>
              <a:rect l="l" t="t" r="r" b="b"/>
              <a:pathLst>
                <a:path w="4572000" h="571500">
                  <a:moveTo>
                    <a:pt x="0" y="0"/>
                  </a:moveTo>
                  <a:lnTo>
                    <a:pt x="4572000" y="0"/>
                  </a:lnTo>
                  <a:lnTo>
                    <a:pt x="4143375" y="571500"/>
                  </a:lnTo>
                  <a:lnTo>
                    <a:pt x="428625" y="571500"/>
                  </a:lnTo>
                  <a:close/>
                </a:path>
              </a:pathLst>
            </a:custGeom>
            <a:solidFill>
              <a:srgbClr val="EFF6FF"/>
            </a:solidFill>
            <a:ln w="9525">
              <a:solidFill>
                <a:srgbClr val="D8DEE9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2190750" y="3219450"/>
              <a:ext cx="3714750" cy="571500"/>
            </a:xfrm>
            <a:custGeom>
              <a:avLst/>
              <a:gdLst/>
              <a:ahLst/>
              <a:cxnLst/>
              <a:rect l="l" t="t" r="r" b="b"/>
              <a:pathLst>
                <a:path w="3714750" h="571500">
                  <a:moveTo>
                    <a:pt x="0" y="0"/>
                  </a:moveTo>
                  <a:lnTo>
                    <a:pt x="3714750" y="0"/>
                  </a:lnTo>
                  <a:lnTo>
                    <a:pt x="3286125" y="571500"/>
                  </a:lnTo>
                  <a:lnTo>
                    <a:pt x="428625" y="571500"/>
                  </a:lnTo>
                  <a:close/>
                </a:path>
              </a:pathLst>
            </a:custGeom>
            <a:solidFill>
              <a:srgbClr val="EAF7F2"/>
            </a:solidFill>
            <a:ln w="9525">
              <a:solidFill>
                <a:srgbClr val="D8DEE9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2619375" y="3943350"/>
              <a:ext cx="2857500" cy="571500"/>
            </a:xfrm>
            <a:custGeom>
              <a:avLst/>
              <a:gdLst/>
              <a:ahLst/>
              <a:cxnLst/>
              <a:rect l="l" t="t" r="r" b="b"/>
              <a:pathLst>
                <a:path w="2857500" h="571500">
                  <a:moveTo>
                    <a:pt x="0" y="0"/>
                  </a:moveTo>
                  <a:lnTo>
                    <a:pt x="2857500" y="0"/>
                  </a:lnTo>
                  <a:lnTo>
                    <a:pt x="2428875" y="571500"/>
                  </a:lnTo>
                  <a:lnTo>
                    <a:pt x="428625" y="571500"/>
                  </a:lnTo>
                  <a:close/>
                </a:path>
              </a:pathLst>
            </a:custGeom>
            <a:solidFill>
              <a:srgbClr val="EFF6FF"/>
            </a:solidFill>
            <a:ln w="9525">
              <a:solidFill>
                <a:srgbClr val="D8DEE9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3048000" y="4667250"/>
              <a:ext cx="2000250" cy="571500"/>
            </a:xfrm>
            <a:custGeom>
              <a:avLst/>
              <a:gdLst/>
              <a:ahLst/>
              <a:cxnLst/>
              <a:rect l="l" t="t" r="r" b="b"/>
              <a:pathLst>
                <a:path w="2000250" h="571500">
                  <a:moveTo>
                    <a:pt x="0" y="0"/>
                  </a:moveTo>
                  <a:lnTo>
                    <a:pt x="2000250" y="0"/>
                  </a:lnTo>
                  <a:lnTo>
                    <a:pt x="1666875" y="571500"/>
                  </a:lnTo>
                  <a:lnTo>
                    <a:pt x="333375" y="571500"/>
                  </a:lnTo>
                  <a:close/>
                </a:path>
              </a:pathLst>
            </a:custGeom>
            <a:solidFill>
              <a:srgbClr val="EAF7F2"/>
            </a:solidFill>
            <a:ln w="9525">
              <a:solidFill>
                <a:srgbClr val="D8DEE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381375" y="5372100"/>
              <a:ext cx="1333500" cy="400050"/>
            </a:xfrm>
            <a:prstGeom prst="roundRect">
              <a:avLst>
                <a:gd name="adj" fmla="val 42857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748835" y="2641282"/>
              <a:ext cx="5985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node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23532" y="3374708"/>
              <a:ext cx="64918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warp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18419" y="4098608"/>
              <a:ext cx="4594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CTA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99704" y="4822508"/>
              <a:ext cx="14968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selected SM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78281" y="5476875"/>
              <a:ext cx="7396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kernel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76862" y="2697956"/>
              <a:ext cx="18277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563EB"/>
                  </a:solidFill>
                  <a:latin typeface="Consolas"/>
                  <a:ea typeface="Microsoft YaHei"/>
                  <a:cs typeface="Consolas"/>
                </a:rPr>
                <a:t>instruction / mem_ref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10212" y="3431381"/>
              <a:ext cx="1564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warp-level context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05412" y="4155281"/>
              <a:ext cx="1030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563EB"/>
                  </a:solidFill>
                  <a:latin typeface="Consolas"/>
                  <a:ea typeface="Microsoft YaHei"/>
                  <a:cs typeface="Consolas"/>
                </a:rPr>
                <a:t>thread block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38712" y="4879181"/>
              <a:ext cx="12197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scheduler slice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810500" y="2095500"/>
            <a:ext cx="3848100" cy="3676650"/>
            <a:chOff x="7810500" y="2095500"/>
            <a:chExt cx="3848100" cy="3676650"/>
          </a:xfrm>
        </p:grpSpPr>
        <p:sp>
          <p:nvSpPr>
            <p:cNvPr id="26" name="Rectangle 26"/>
            <p:cNvSpPr/>
            <p:nvPr/>
          </p:nvSpPr>
          <p:spPr>
            <a:xfrm>
              <a:off x="7810500" y="2095500"/>
              <a:ext cx="3848100" cy="3676650"/>
            </a:xfrm>
            <a:prstGeom prst="roundRect">
              <a:avLst>
                <a:gd name="adj" fmla="val 5699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8191490" y="2495550"/>
              <a:ext cx="228610" cy="228600"/>
              <a:chOff x="8191490" y="2495550"/>
              <a:chExt cx="228610" cy="2286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248650" y="255270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157162" y="3829"/>
                    </a:moveTo>
                    <a:cubicBezTo>
                      <a:pt x="166003" y="8933"/>
                      <a:pt x="171450" y="18366"/>
                      <a:pt x="171450" y="28575"/>
                    </a:cubicBezTo>
                    <a:lnTo>
                      <a:pt x="171450" y="142875"/>
                    </a:lnTo>
                    <a:cubicBezTo>
                      <a:pt x="171450" y="158657"/>
                      <a:pt x="158657" y="171450"/>
                      <a:pt x="142875" y="171450"/>
                    </a:cubicBezTo>
                    <a:lnTo>
                      <a:pt x="28575" y="171450"/>
                    </a:lnTo>
                    <a:cubicBezTo>
                      <a:pt x="12793" y="171450"/>
                      <a:pt x="0" y="158657"/>
                      <a:pt x="0" y="1428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91490" y="2495550"/>
                <a:ext cx="17146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60" h="171450">
                    <a:moveTo>
                      <a:pt x="14297" y="167650"/>
                    </a:moveTo>
                    <a:cubicBezTo>
                      <a:pt x="5448" y="162540"/>
                      <a:pt x="0" y="153094"/>
                      <a:pt x="10" y="142875"/>
                    </a:cubicBezTo>
                    <a:lnTo>
                      <a:pt x="10" y="28575"/>
                    </a:lnTo>
                    <a:cubicBezTo>
                      <a:pt x="10" y="12793"/>
                      <a:pt x="12803" y="0"/>
                      <a:pt x="28585" y="0"/>
                    </a:cubicBezTo>
                    <a:lnTo>
                      <a:pt x="142885" y="0"/>
                    </a:lnTo>
                    <a:cubicBezTo>
                      <a:pt x="158666" y="0"/>
                      <a:pt x="171460" y="12793"/>
                      <a:pt x="171460" y="28575"/>
                    </a:cubicBezTo>
                    <a:lnTo>
                      <a:pt x="171460" y="142875"/>
                    </a:lnTo>
                    <a:cubicBezTo>
                      <a:pt x="171460" y="158657"/>
                      <a:pt x="158666" y="171450"/>
                      <a:pt x="142885" y="171450"/>
                    </a:cubicBezTo>
                    <a:lnTo>
                      <a:pt x="100022" y="17145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8589645" y="2507932"/>
              <a:ext cx="206616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为什么分层读出？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8134350" y="3105150"/>
              <a:ext cx="3048000" cy="590550"/>
              <a:chOff x="8134350" y="3105150"/>
              <a:chExt cx="3048000" cy="5905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134350" y="3105150"/>
                <a:ext cx="3048000" cy="590550"/>
              </a:xfrm>
              <a:prstGeom prst="roundRect">
                <a:avLst>
                  <a:gd name="adj" fmla="val 22581"/>
                </a:avLst>
              </a:prstGeom>
              <a:solidFill>
                <a:srgbClr val="F7F9FC"/>
              </a:solidFill>
              <a:ln w="9525">
                <a:solidFill>
                  <a:srgbClr val="D8DEE9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347710" y="3223260"/>
                <a:ext cx="154867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保留 GPU 执行层级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349615" y="3458528"/>
                <a:ext cx="23192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5"/>
                    </a:solidFill>
                    <a:latin typeface="Arial"/>
                    <a:ea typeface="Microsoft YaHei"/>
                    <a:cs typeface="Arial"/>
                  </a:rPr>
                  <a:t>warp / CTA / SM 是真实调度单位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134350" y="3924300"/>
              <a:ext cx="3048000" cy="590550"/>
              <a:chOff x="8134350" y="3924300"/>
              <a:chExt cx="3048000" cy="5905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8134350" y="3924300"/>
                <a:ext cx="3048000" cy="590550"/>
              </a:xfrm>
              <a:prstGeom prst="roundRect">
                <a:avLst>
                  <a:gd name="adj" fmla="val 22581"/>
                </a:avLst>
              </a:prstGeom>
              <a:solidFill>
                <a:srgbClr val="F7F9FC"/>
              </a:solidFill>
              <a:ln w="9525">
                <a:solidFill>
                  <a:srgbClr val="D8DEE9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347710" y="4042410"/>
                <a:ext cx="131864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减少图规模噪声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349615" y="4277678"/>
                <a:ext cx="18669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5"/>
                    </a:solidFill>
                    <a:latin typeface="Arial"/>
                    <a:ea typeface="Microsoft YaHei"/>
                    <a:cs typeface="Arial"/>
                  </a:rPr>
                  <a:t>逐级聚合比全图平均更稳定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8134350" y="4743450"/>
              <a:ext cx="3048000" cy="590550"/>
              <a:chOff x="8134350" y="4743450"/>
              <a:chExt cx="3048000" cy="5905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8134350" y="4743450"/>
                <a:ext cx="3048000" cy="590550"/>
              </a:xfrm>
              <a:prstGeom prst="roundRect">
                <a:avLst>
                  <a:gd name="adj" fmla="val 22581"/>
                </a:avLst>
              </a:prstGeom>
              <a:solidFill>
                <a:srgbClr val="F7F9FC"/>
              </a:solidFill>
              <a:ln w="9525">
                <a:solidFill>
                  <a:srgbClr val="D8DEE9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347710" y="4861560"/>
                <a:ext cx="15026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输出固定维度表示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349615" y="5096828"/>
                <a:ext cx="23116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5"/>
                    </a:solidFill>
                    <a:latin typeface="Arial"/>
                    <a:ea typeface="Microsoft YaHei"/>
                    <a:cs typeface="Arial"/>
                  </a:rPr>
                  <a:t>每个 kernel 最终得到 256 维向量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521970" y="6417945"/>
            <a:ext cx="11148060" cy="182880"/>
            <a:chOff x="521970" y="6417945"/>
            <a:chExt cx="11148060" cy="182880"/>
          </a:xfrm>
        </p:grpSpPr>
        <p:sp>
          <p:nvSpPr>
            <p:cNvPr id="44" name="TextBox 44"/>
            <p:cNvSpPr txBox="1"/>
            <p:nvPr/>
          </p:nvSpPr>
          <p:spPr>
            <a:xfrm>
              <a:off x="521970" y="6417945"/>
              <a:ext cx="65688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792A2"/>
                  </a:solidFill>
                  <a:latin typeface="Arial"/>
                  <a:ea typeface="Microsoft YaHei"/>
                  <a:cs typeface="Arial"/>
                </a:rPr>
                <a:t>Source: RGCN training manifest: readout_hierarchy=node_to_warp_to_cta_to_selected_sm_to_kernel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39690" y="64179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792A2"/>
                  </a:solidFill>
                  <a:latin typeface="Consolas"/>
                  <a:ea typeface="Microsoft YaHei"/>
                  <a:cs typeface="Consola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5" grpId="0"/>
      <p:bldP spid="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80085" y="427672"/>
            <a:ext cx="10139886" cy="829628"/>
            <a:chOff x="680085" y="427672"/>
            <a:chExt cx="10139886" cy="829628"/>
          </a:xfrm>
        </p:grpSpPr>
        <p:sp>
          <p:nvSpPr>
            <p:cNvPr id="3" name="TextBox 3"/>
            <p:cNvSpPr txBox="1"/>
            <p:nvPr/>
          </p:nvSpPr>
          <p:spPr>
            <a:xfrm>
              <a:off x="680085" y="427672"/>
              <a:ext cx="10139886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图对比学习：没有标签，也能训练图编码器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27710" y="1013460"/>
              <a:ext cx="47506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GRAPH CONTRASTIVE LEARNING · 正样本拉近，负样本推远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84438" y="2190750"/>
            <a:ext cx="8459637" cy="2352675"/>
            <a:chOff x="1284438" y="2190750"/>
            <a:chExt cx="8459637" cy="2352675"/>
          </a:xfrm>
        </p:grpSpPr>
        <p:sp>
          <p:nvSpPr>
            <p:cNvPr id="6" name="Ellipse 6"/>
            <p:cNvSpPr/>
            <p:nvPr/>
          </p:nvSpPr>
          <p:spPr>
            <a:xfrm>
              <a:off x="1514475" y="2514600"/>
              <a:ext cx="1447800" cy="1447800"/>
            </a:xfrm>
            <a:prstGeom prst="ellipse">
              <a:avLst/>
            </a:prstGeom>
            <a:solidFill>
              <a:srgbClr val="155E75">
                <a:alpha val="10000"/>
              </a:srgbClr>
            </a:solidFill>
            <a:ln w="19050">
              <a:solidFill>
                <a:srgbClr val="155E75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968500" y="2968625"/>
              <a:ext cx="512762" cy="539750"/>
              <a:chOff x="1968500" y="2968625"/>
              <a:chExt cx="512762" cy="5397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968500" y="3400425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107950" y="53975"/>
                    </a:move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238375" y="2968625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107950" y="53975"/>
                    </a:move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238375" y="3400425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107950" y="53975"/>
                    </a:move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103438" y="3184525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107950" y="53975"/>
                    </a:move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373312" y="3184525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107950" y="53975"/>
                    </a:move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2051028" y="3284379"/>
                <a:ext cx="77724" cy="124304"/>
              </a:xfrm>
              <a:custGeom>
                <a:avLst/>
                <a:gdLst/>
                <a:ahLst/>
                <a:cxnLst/>
                <a:rect l="l" t="t" r="r" b="b"/>
                <a:pathLst>
                  <a:path w="77724" h="124304">
                    <a:moveTo>
                      <a:pt x="0" y="124304"/>
                    </a:moveTo>
                    <a:lnTo>
                      <a:pt x="77724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186046" y="3068452"/>
                <a:ext cx="77643" cy="124250"/>
              </a:xfrm>
              <a:custGeom>
                <a:avLst/>
                <a:gdLst/>
                <a:ahLst/>
                <a:cxnLst/>
                <a:rect l="l" t="t" r="r" b="b"/>
                <a:pathLst>
                  <a:path w="77643" h="124250">
                    <a:moveTo>
                      <a:pt x="0" y="124250"/>
                    </a:moveTo>
                    <a:lnTo>
                      <a:pt x="77643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186154" y="3284514"/>
                <a:ext cx="77616" cy="124143"/>
              </a:xfrm>
              <a:custGeom>
                <a:avLst/>
                <a:gdLst/>
                <a:ahLst/>
                <a:cxnLst/>
                <a:rect l="l" t="t" r="r" b="b"/>
                <a:pathLst>
                  <a:path w="77616" h="124143">
                    <a:moveTo>
                      <a:pt x="0" y="0"/>
                    </a:moveTo>
                    <a:lnTo>
                      <a:pt x="77616" y="124143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321038" y="3068479"/>
                <a:ext cx="77751" cy="124412"/>
              </a:xfrm>
              <a:custGeom>
                <a:avLst/>
                <a:gdLst/>
                <a:ahLst/>
                <a:cxnLst/>
                <a:rect l="l" t="t" r="r" b="b"/>
                <a:pathLst>
                  <a:path w="77751" h="124412">
                    <a:moveTo>
                      <a:pt x="0" y="0"/>
                    </a:moveTo>
                    <a:lnTo>
                      <a:pt x="77751" y="124412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284438" y="4140518"/>
              <a:ext cx="19078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同一个 kernel 图 Gᵢ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2952750" y="2381250"/>
              <a:ext cx="2381250" cy="619125"/>
            </a:xfrm>
            <a:custGeom>
              <a:avLst/>
              <a:gdLst/>
              <a:ahLst/>
              <a:cxnLst/>
              <a:rect l="l" t="t" r="r" b="b"/>
              <a:pathLst>
                <a:path w="2381250" h="619125">
                  <a:moveTo>
                    <a:pt x="0" y="619125"/>
                  </a:moveTo>
                  <a:cubicBezTo>
                    <a:pt x="857250" y="95250"/>
                    <a:pt x="1714500" y="0"/>
                    <a:pt x="2381250" y="342900"/>
                  </a:cubicBezTo>
                </a:path>
              </a:pathLst>
            </a:custGeom>
            <a:noFill/>
            <a:ln w="28575">
              <a:solidFill>
                <a:srgbClr val="2563EB"/>
              </a:solidFill>
              <a:tailEnd type="triangle" w="lg" len="lg"/>
            </a:ln>
          </p:spPr>
        </p:sp>
        <p:sp>
          <p:nvSpPr>
            <p:cNvPr id="19" name="Freeform 19"/>
            <p:cNvSpPr/>
            <p:nvPr/>
          </p:nvSpPr>
          <p:spPr>
            <a:xfrm>
              <a:off x="2952750" y="3476625"/>
              <a:ext cx="2381250" cy="809625"/>
            </a:xfrm>
            <a:custGeom>
              <a:avLst/>
              <a:gdLst/>
              <a:ahLst/>
              <a:cxnLst/>
              <a:rect l="l" t="t" r="r" b="b"/>
              <a:pathLst>
                <a:path w="2381250" h="809625">
                  <a:moveTo>
                    <a:pt x="0" y="0"/>
                  </a:moveTo>
                  <a:cubicBezTo>
                    <a:pt x="857250" y="619125"/>
                    <a:pt x="1714500" y="809625"/>
                    <a:pt x="2381250" y="371475"/>
                  </a:cubicBezTo>
                </a:path>
              </a:pathLst>
            </a:custGeom>
            <a:noFill/>
            <a:ln w="28575">
              <a:solidFill>
                <a:srgbClr val="22C55E"/>
              </a:solidFill>
              <a:tailEnd type="triangle" w="lg" len="lg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24312" y="2374106"/>
              <a:ext cx="8653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增强视图 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24312" y="4279106"/>
              <a:ext cx="8653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增强视图 B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572125" y="2190750"/>
              <a:ext cx="1619250" cy="10668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 w="19050">
              <a:solidFill>
                <a:srgbClr val="2563EB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572125" y="3476625"/>
              <a:ext cx="1619250" cy="10668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 w="19050">
              <a:solidFill>
                <a:srgbClr val="22C55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89397" y="2440305"/>
              <a:ext cx="58470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563EB"/>
                  </a:solidFill>
                  <a:latin typeface="Consolas"/>
                  <a:ea typeface="Microsoft YaHei"/>
                  <a:cs typeface="Consolas"/>
                </a:rPr>
                <a:t>zᵢᵃ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81521" y="2858452"/>
              <a:ext cx="10004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RGCN encoder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89397" y="3726180"/>
              <a:ext cx="58470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zᵢᵇ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66186" y="4144328"/>
              <a:ext cx="10311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same encoder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7334250" y="2743200"/>
              <a:ext cx="1333500" cy="609600"/>
            </a:xfrm>
            <a:custGeom>
              <a:avLst/>
              <a:gdLst/>
              <a:ahLst/>
              <a:cxnLst/>
              <a:rect l="l" t="t" r="r" b="b"/>
              <a:pathLst>
                <a:path w="1333500" h="609600">
                  <a:moveTo>
                    <a:pt x="0" y="0"/>
                  </a:moveTo>
                  <a:cubicBezTo>
                    <a:pt x="809625" y="114300"/>
                    <a:pt x="1000125" y="400050"/>
                    <a:pt x="1333500" y="609600"/>
                  </a:cubicBezTo>
                </a:path>
              </a:pathLst>
            </a:custGeom>
            <a:noFill/>
            <a:ln w="28575">
              <a:solidFill>
                <a:srgbClr val="2563EB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334250" y="3371850"/>
              <a:ext cx="1333500" cy="628650"/>
            </a:xfrm>
            <a:custGeom>
              <a:avLst/>
              <a:gdLst/>
              <a:ahLst/>
              <a:cxnLst/>
              <a:rect l="l" t="t" r="r" b="b"/>
              <a:pathLst>
                <a:path w="1333500" h="628650">
                  <a:moveTo>
                    <a:pt x="0" y="628650"/>
                  </a:moveTo>
                  <a:cubicBezTo>
                    <a:pt x="809625" y="485775"/>
                    <a:pt x="1000125" y="209550"/>
                    <a:pt x="1333500" y="0"/>
                  </a:cubicBezTo>
                </a:path>
              </a:pathLst>
            </a:custGeom>
            <a:noFill/>
            <a:ln w="28575">
              <a:solidFill>
                <a:srgbClr val="22C55E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448675" y="2724150"/>
              <a:ext cx="1295400" cy="1295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55E75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89134" y="31199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正样本对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53475" y="342185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拉近距离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333625" y="5334000"/>
            <a:ext cx="8619172" cy="723900"/>
            <a:chOff x="2333625" y="5334000"/>
            <a:chExt cx="8619172" cy="723900"/>
          </a:xfrm>
        </p:grpSpPr>
        <p:sp>
          <p:nvSpPr>
            <p:cNvPr id="34" name="Rectangle 34"/>
            <p:cNvSpPr/>
            <p:nvPr/>
          </p:nvSpPr>
          <p:spPr>
            <a:xfrm>
              <a:off x="2333625" y="5334000"/>
              <a:ext cx="7524750" cy="723900"/>
            </a:xfrm>
            <a:prstGeom prst="roundRect">
              <a:avLst>
                <a:gd name="adj" fmla="val 28947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703195" y="5574982"/>
              <a:ext cx="109199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033"/>
                  </a:solidFill>
                  <a:latin typeface="Consolas"/>
                  <a:ea typeface="Microsoft YaHei"/>
                  <a:cs typeface="Consolas"/>
                </a:rPr>
                <a:t>InfoNCE: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38575" y="5591175"/>
              <a:ext cx="71142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最大化同一 kernel 两个视图的相似度，最小化不同 kernel 之间的相似度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1970" y="6417945"/>
            <a:ext cx="11148060" cy="182880"/>
            <a:chOff x="521970" y="6417945"/>
            <a:chExt cx="11148060" cy="182880"/>
          </a:xfrm>
        </p:grpSpPr>
        <p:sp>
          <p:nvSpPr>
            <p:cNvPr id="38" name="TextBox 38"/>
            <p:cNvSpPr txBox="1"/>
            <p:nvPr/>
          </p:nvSpPr>
          <p:spPr>
            <a:xfrm>
              <a:off x="521970" y="6417945"/>
              <a:ext cx="33221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792A2"/>
                  </a:solidFill>
                  <a:latin typeface="Arial"/>
                  <a:ea typeface="Microsoft YaHei"/>
                  <a:cs typeface="Arial"/>
                </a:rPr>
                <a:t>Source: GCL report, section 3.4 图对比学习训练策略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39690" y="64179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792A2"/>
                  </a:solidFill>
                  <a:latin typeface="Consolas"/>
                  <a:ea typeface="Microsoft YaHei"/>
                  <a:cs typeface="Consola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48628"/>
            <a:ext cx="9177402" cy="680084"/>
            <a:chOff x="533400" y="448628"/>
            <a:chExt cx="9177402" cy="680084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57150" cy="323850"/>
            </a:xfrm>
            <a:prstGeom prst="roundRect">
              <a:avLst>
                <a:gd name="adj" fmla="val 50000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448628"/>
              <a:ext cx="900023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K-means 在 embedding 空间中完成分组与代表选择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15352"/>
              <a:ext cx="38347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CLUSTERING · 从 265 个向量中选择中心附近代表样本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3400" y="1200150"/>
            <a:ext cx="11125200" cy="476250"/>
            <a:chOff x="533400" y="1200150"/>
            <a:chExt cx="11125200" cy="476250"/>
          </a:xfrm>
        </p:grpSpPr>
        <p:sp>
          <p:nvSpPr>
            <p:cNvPr id="7" name="Rectangle 7"/>
            <p:cNvSpPr/>
            <p:nvPr/>
          </p:nvSpPr>
          <p:spPr>
            <a:xfrm>
              <a:off x="533400" y="1200150"/>
              <a:ext cx="11125200" cy="476250"/>
            </a:xfrm>
            <a:prstGeom prst="roundRect">
              <a:avLst>
                <a:gd name="adj" fmla="val 28000"/>
              </a:avLst>
            </a:prstGeom>
            <a:solidFill>
              <a:srgbClr val="155E75">
                <a:alpha val="8000"/>
              </a:srgbClr>
            </a:solidFill>
            <a:ln w="9525">
              <a:solidFill>
                <a:srgbClr val="D8DEE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4858" y="1357789"/>
              <a:ext cx="6615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K-means 不训练 GNN，而是在 RGCN 输出的 256 维向量空间中做无监督后处理。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66750" y="2133600"/>
            <a:ext cx="10810875" cy="1809750"/>
            <a:chOff x="666750" y="2133600"/>
            <a:chExt cx="10810875" cy="1809750"/>
          </a:xfrm>
        </p:grpSpPr>
        <p:sp>
          <p:nvSpPr>
            <p:cNvPr id="10" name="Rectangle 10"/>
            <p:cNvSpPr/>
            <p:nvPr/>
          </p:nvSpPr>
          <p:spPr>
            <a:xfrm>
              <a:off x="666750" y="2133600"/>
              <a:ext cx="2381250" cy="1809750"/>
            </a:xfrm>
            <a:prstGeom prst="roundRect">
              <a:avLst>
                <a:gd name="adj" fmla="val 9474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3476625" y="2133600"/>
              <a:ext cx="2381250" cy="1809750"/>
            </a:xfrm>
            <a:prstGeom prst="roundRect">
              <a:avLst>
                <a:gd name="adj" fmla="val 9474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286500" y="2133600"/>
              <a:ext cx="2381250" cy="1809750"/>
            </a:xfrm>
            <a:prstGeom prst="roundRect">
              <a:avLst>
                <a:gd name="adj" fmla="val 9474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9096375" y="2133600"/>
              <a:ext cx="2381250" cy="1809750"/>
            </a:xfrm>
            <a:prstGeom prst="roundRect">
              <a:avLst>
                <a:gd name="adj" fmla="val 9474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048000" y="3038475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155E75"/>
              </a:solidFill>
              <a:tailEnd type="triangle" w="lg" len="lg"/>
            </a:ln>
          </p:spPr>
        </p:sp>
        <p:sp>
          <p:nvSpPr>
            <p:cNvPr id="15" name="Freeform 15"/>
            <p:cNvSpPr/>
            <p:nvPr/>
          </p:nvSpPr>
          <p:spPr>
            <a:xfrm>
              <a:off x="5857875" y="3038475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155E75"/>
              </a:solidFill>
              <a:tailEnd type="triangle" w="lg" len="lg"/>
            </a:ln>
          </p:spPr>
        </p:sp>
        <p:sp>
          <p:nvSpPr>
            <p:cNvPr id="16" name="Freeform 16"/>
            <p:cNvSpPr/>
            <p:nvPr/>
          </p:nvSpPr>
          <p:spPr>
            <a:xfrm>
              <a:off x="8667750" y="3038475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968366" y="2492375"/>
              <a:ext cx="215909" cy="215900"/>
              <a:chOff x="968366" y="2492375"/>
              <a:chExt cx="215909" cy="2159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1022350" y="2546350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148431" y="3616"/>
                    </a:moveTo>
                    <a:cubicBezTo>
                      <a:pt x="156781" y="8437"/>
                      <a:pt x="161925" y="17346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2"/>
                      <a:pt x="149842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2"/>
                      <a:pt x="0" y="134938"/>
                    </a:cubicBez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67469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68366" y="2492375"/>
                <a:ext cx="161934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34" h="161925">
                    <a:moveTo>
                      <a:pt x="13503" y="158336"/>
                    </a:moveTo>
                    <a:cubicBezTo>
                      <a:pt x="5145" y="153510"/>
                      <a:pt x="0" y="144589"/>
                      <a:pt x="9" y="134937"/>
                    </a:cubicBezTo>
                    <a:lnTo>
                      <a:pt x="9" y="26987"/>
                    </a:lnTo>
                    <a:cubicBezTo>
                      <a:pt x="9" y="12083"/>
                      <a:pt x="12092" y="0"/>
                      <a:pt x="26997" y="0"/>
                    </a:cubicBezTo>
                    <a:lnTo>
                      <a:pt x="134947" y="0"/>
                    </a:lnTo>
                    <a:cubicBezTo>
                      <a:pt x="149852" y="0"/>
                      <a:pt x="161934" y="12083"/>
                      <a:pt x="161934" y="26987"/>
                    </a:cubicBezTo>
                    <a:lnTo>
                      <a:pt x="161934" y="134937"/>
                    </a:lnTo>
                    <a:cubicBezTo>
                      <a:pt x="161934" y="149842"/>
                      <a:pt x="149852" y="161925"/>
                      <a:pt x="134947" y="161925"/>
                    </a:cubicBezTo>
                    <a:lnTo>
                      <a:pt x="94466" y="161925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3764756" y="2478881"/>
              <a:ext cx="242888" cy="242888"/>
              <a:chOff x="3764756" y="2478881"/>
              <a:chExt cx="242888" cy="2428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764756" y="247888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0"/>
                    </a:moveTo>
                    <a:lnTo>
                      <a:pt x="0" y="242888"/>
                    </a:lnTo>
                    <a:lnTo>
                      <a:pt x="242888" y="242888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832225" y="264100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2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940175" y="265450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2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832225" y="25332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2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886200" y="25872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2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980656" y="25872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2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27" name="Freeform 27"/>
            <p:cNvSpPr/>
            <p:nvPr/>
          </p:nvSpPr>
          <p:spPr>
            <a:xfrm>
              <a:off x="6574631" y="2492375"/>
              <a:ext cx="242888" cy="215900"/>
            </a:xfrm>
            <a:custGeom>
              <a:avLst/>
              <a:gdLst/>
              <a:ahLst/>
              <a:cxnLst/>
              <a:rect l="l" t="t" r="r" b="b"/>
              <a:pathLst>
                <a:path w="242888" h="215900">
                  <a:moveTo>
                    <a:pt x="0" y="107950"/>
                  </a:moveTo>
                  <a:lnTo>
                    <a:pt x="53975" y="107950"/>
                  </a:lnTo>
                  <a:lnTo>
                    <a:pt x="94456" y="215900"/>
                  </a:lnTo>
                  <a:lnTo>
                    <a:pt x="148431" y="0"/>
                  </a:lnTo>
                  <a:lnTo>
                    <a:pt x="188913" y="107950"/>
                  </a:lnTo>
                  <a:lnTo>
                    <a:pt x="242888" y="10795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374101" y="2473871"/>
              <a:ext cx="258223" cy="258245"/>
              <a:chOff x="9374101" y="2473871"/>
              <a:chExt cx="258223" cy="25824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9492456" y="2586831"/>
                <a:ext cx="26987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7" y="20946"/>
                      <a:pt x="26987" y="13494"/>
                    </a:cubicBezTo>
                    <a:cubicBezTo>
                      <a:pt x="26987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22C55E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438481" y="2532856"/>
                <a:ext cx="134938" cy="134937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7">
                    <a:moveTo>
                      <a:pt x="67469" y="0"/>
                    </a:moveTo>
                    <a:cubicBezTo>
                      <a:pt x="30207" y="0"/>
                      <a:pt x="0" y="30207"/>
                      <a:pt x="0" y="67469"/>
                    </a:cubicBezTo>
                    <a:cubicBezTo>
                      <a:pt x="0" y="104731"/>
                      <a:pt x="30207" y="134937"/>
                      <a:pt x="67469" y="134937"/>
                    </a:cubicBezTo>
                    <a:cubicBezTo>
                      <a:pt x="104731" y="134937"/>
                      <a:pt x="134938" y="104731"/>
                      <a:pt x="134938" y="67469"/>
                    </a:cubicBezTo>
                  </a:path>
                </a:pathLst>
              </a:custGeom>
              <a:noFill/>
              <a:ln w="19050">
                <a:solidFill>
                  <a:srgbClr val="22C55E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374101" y="2473871"/>
                <a:ext cx="258223" cy="258245"/>
              </a:xfrm>
              <a:custGeom>
                <a:avLst/>
                <a:gdLst/>
                <a:ahLst/>
                <a:cxnLst/>
                <a:rect l="l" t="t" r="r" b="b"/>
                <a:pathLst>
                  <a:path w="258223" h="258245">
                    <a:moveTo>
                      <a:pt x="145343" y="5752"/>
                    </a:moveTo>
                    <a:cubicBezTo>
                      <a:pt x="94071" y="0"/>
                      <a:pt x="44761" y="27272"/>
                      <a:pt x="22380" y="73759"/>
                    </a:cubicBezTo>
                    <a:cubicBezTo>
                      <a:pt x="0" y="120246"/>
                      <a:pt x="9435" y="175799"/>
                      <a:pt x="45908" y="212291"/>
                    </a:cubicBezTo>
                    <a:cubicBezTo>
                      <a:pt x="82381" y="248782"/>
                      <a:pt x="137930" y="258245"/>
                      <a:pt x="184428" y="235888"/>
                    </a:cubicBezTo>
                    <a:cubicBezTo>
                      <a:pt x="230927" y="213531"/>
                      <a:pt x="258223" y="164235"/>
                      <a:pt x="252497" y="112960"/>
                    </a:cubicBezTo>
                  </a:path>
                </a:pathLst>
              </a:custGeom>
              <a:noFill/>
              <a:ln w="19050">
                <a:solidFill>
                  <a:srgbClr val="22C55E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546431" y="2478881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40481"/>
                    </a:moveTo>
                    <a:lnTo>
                      <a:pt x="0" y="80962"/>
                    </a:lnTo>
                    <a:lnTo>
                      <a:pt x="40481" y="80962"/>
                    </a:lnTo>
                    <a:lnTo>
                      <a:pt x="80962" y="40481"/>
                    </a:lnTo>
                    <a:lnTo>
                      <a:pt x="40481" y="40481"/>
                    </a:lnTo>
                    <a:lnTo>
                      <a:pt x="40481" y="0"/>
                    </a:ln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22C55E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505950" y="2559844"/>
                <a:ext cx="40481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40481">
                    <a:moveTo>
                      <a:pt x="40481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22C55E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895350" y="2905125"/>
              <a:ext cx="12227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1. 输入向量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0112" y="326945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265 个 kernel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0112" y="3488531"/>
              <a:ext cx="17455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每个 256 维 embedding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05225" y="2905125"/>
              <a:ext cx="10157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2. 选择 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09988" y="3269456"/>
              <a:ext cx="12280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使用 silhouette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09988" y="3488531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评价候选聚类数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15100" y="2905125"/>
              <a:ext cx="128025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3. 迭代聚类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19862" y="326945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分配最近中心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19862" y="3488531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更新簇均值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24975" y="2905125"/>
              <a:ext cx="15907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4. 代表 kernel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29738" y="326945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选择距离簇中心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29738" y="3488531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最近的样本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47750" y="4572000"/>
            <a:ext cx="10096500" cy="914400"/>
            <a:chOff x="1047750" y="4572000"/>
            <a:chExt cx="10096500" cy="914400"/>
          </a:xfrm>
        </p:grpSpPr>
        <p:sp>
          <p:nvSpPr>
            <p:cNvPr id="47" name="Rectangle 47"/>
            <p:cNvSpPr/>
            <p:nvPr/>
          </p:nvSpPr>
          <p:spPr>
            <a:xfrm>
              <a:off x="1047750" y="4572000"/>
              <a:ext cx="4619625" cy="914400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299210" y="47853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聚类目标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95400" y="5076825"/>
              <a:ext cx="20968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J = sum ||zᵢ - μₖ||²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14712" y="511730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最小化簇内距离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524625" y="4572000"/>
              <a:ext cx="4619625" cy="914400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76085" y="47853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代表样本准则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72275" y="5076825"/>
              <a:ext cx="197034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arg min ||zᵢ - μₖ||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939212" y="511730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中心附近样本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21970" y="6417945"/>
            <a:ext cx="11148060" cy="182880"/>
            <a:chOff x="521970" y="6417945"/>
            <a:chExt cx="11148060" cy="182880"/>
          </a:xfrm>
        </p:grpSpPr>
        <p:sp>
          <p:nvSpPr>
            <p:cNvPr id="56" name="TextBox 56"/>
            <p:cNvSpPr txBox="1"/>
            <p:nvPr/>
          </p:nvSpPr>
          <p:spPr>
            <a:xfrm>
              <a:off x="521970" y="6417945"/>
              <a:ext cx="28686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792A2"/>
                  </a:solidFill>
                  <a:latin typeface="Arial"/>
                  <a:ea typeface="Microsoft YaHei"/>
                  <a:cs typeface="Arial"/>
                </a:rPr>
                <a:t>Source: GCL report, section 2.1 and 3.5-3.6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39690" y="64179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792A2"/>
                  </a:solidFill>
                  <a:latin typeface="Consolas"/>
                  <a:ea typeface="Microsoft YaHei"/>
                  <a:cs typeface="Consola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6" grpId="0"/>
      <p:bldP spid="5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48628"/>
            <a:ext cx="10917569" cy="680084"/>
            <a:chOff x="533400" y="448628"/>
            <a:chExt cx="10917569" cy="680084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57150" cy="323850"/>
            </a:xfrm>
            <a:prstGeom prst="roundRect">
              <a:avLst>
                <a:gd name="adj" fmla="val 50000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448628"/>
              <a:ext cx="1074040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实验跑通真实 ResNet-50 full trace，并观察到初步分离信号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15352"/>
              <a:ext cx="59280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EXPERIMENT DASHBOARD · input scale, embedding export, clustering metrics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3400" y="1200150"/>
            <a:ext cx="11125200" cy="476250"/>
            <a:chOff x="533400" y="1200150"/>
            <a:chExt cx="11125200" cy="476250"/>
          </a:xfrm>
        </p:grpSpPr>
        <p:sp>
          <p:nvSpPr>
            <p:cNvPr id="7" name="Rectangle 7"/>
            <p:cNvSpPr/>
            <p:nvPr/>
          </p:nvSpPr>
          <p:spPr>
            <a:xfrm>
              <a:off x="533400" y="1200150"/>
              <a:ext cx="11125200" cy="476250"/>
            </a:xfrm>
            <a:prstGeom prst="roundRect">
              <a:avLst>
                <a:gd name="adj" fmla="val 28000"/>
              </a:avLst>
            </a:prstGeom>
            <a:solidFill>
              <a:srgbClr val="155E75">
                <a:alpha val="8000"/>
              </a:srgbClr>
            </a:solidFill>
            <a:ln w="9525">
              <a:solidFill>
                <a:srgbClr val="D8DEE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4858" y="1357789"/>
              <a:ext cx="72109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当前证据支持“端到端复现 + embedding 可分”，但还不支持“语义类别已被完全证明”。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2076450"/>
            <a:ext cx="3429000" cy="1371600"/>
            <a:chOff x="533400" y="2076450"/>
            <a:chExt cx="3429000" cy="1371600"/>
          </a:xfrm>
        </p:grpSpPr>
        <p:sp>
          <p:nvSpPr>
            <p:cNvPr id="10" name="Rectangle 10"/>
            <p:cNvSpPr/>
            <p:nvPr/>
          </p:nvSpPr>
          <p:spPr>
            <a:xfrm>
              <a:off x="533400" y="2076450"/>
              <a:ext cx="3429000" cy="1371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835819" y="2369344"/>
              <a:ext cx="214312" cy="214312"/>
              <a:chOff x="835819" y="2369344"/>
              <a:chExt cx="214312" cy="21431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59631" y="2393156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154781" y="0"/>
                    </a:lnTo>
                    <a:cubicBezTo>
                      <a:pt x="161357" y="0"/>
                      <a:pt x="166688" y="5331"/>
                      <a:pt x="166688" y="11906"/>
                    </a:cubicBezTo>
                    <a:lnTo>
                      <a:pt x="166688" y="154781"/>
                    </a:lnTo>
                    <a:cubicBezTo>
                      <a:pt x="166688" y="161357"/>
                      <a:pt x="161357" y="166688"/>
                      <a:pt x="154781" y="166688"/>
                    </a:cubicBezTo>
                    <a:lnTo>
                      <a:pt x="11906" y="166688"/>
                    </a:lnTo>
                    <a:cubicBezTo>
                      <a:pt x="5331" y="166688"/>
                      <a:pt x="0" y="161357"/>
                      <a:pt x="0" y="154781"/>
                    </a:cubicBezTo>
                    <a:lnTo>
                      <a:pt x="0" y="11906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07256" y="2440781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71438" y="0"/>
                    </a:lnTo>
                    <a:lnTo>
                      <a:pt x="71438" y="71438"/>
                    </a:lnTo>
                    <a:lnTo>
                      <a:pt x="0" y="7143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5819" y="2452688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5819" y="2500312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19162" y="2369344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66788" y="2369344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26319" y="2452688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23812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26319" y="2500312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23812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66788" y="2559844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2381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19162" y="2559844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2381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58190" y="2653665"/>
              <a:ext cx="91882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033"/>
                  </a:solidFill>
                  <a:latin typeface="Consolas"/>
                  <a:ea typeface="Microsoft YaHei"/>
                  <a:cs typeface="Consolas"/>
                </a:rPr>
                <a:t>265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86915" y="2744152"/>
              <a:ext cx="13071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kernel invocation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85962" y="298370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真实输入规模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81500" y="2076450"/>
            <a:ext cx="3429000" cy="1371600"/>
            <a:chOff x="4381500" y="2076450"/>
            <a:chExt cx="3429000" cy="1371600"/>
          </a:xfrm>
        </p:grpSpPr>
        <p:sp>
          <p:nvSpPr>
            <p:cNvPr id="26" name="Rectangle 26"/>
            <p:cNvSpPr/>
            <p:nvPr/>
          </p:nvSpPr>
          <p:spPr>
            <a:xfrm>
              <a:off x="4381500" y="2076450"/>
              <a:ext cx="3429000" cy="1371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4695825" y="2369344"/>
              <a:ext cx="190500" cy="214312"/>
              <a:chOff x="4695825" y="2369344"/>
              <a:chExt cx="190500" cy="21431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4695825" y="2369344"/>
                <a:ext cx="190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71438">
                    <a:moveTo>
                      <a:pt x="0" y="35719"/>
                    </a:moveTo>
                    <a:cubicBezTo>
                      <a:pt x="0" y="55446"/>
                      <a:pt x="42645" y="71438"/>
                      <a:pt x="95250" y="71438"/>
                    </a:cubicBezTo>
                    <a:cubicBezTo>
                      <a:pt x="147855" y="71438"/>
                      <a:pt x="190500" y="55446"/>
                      <a:pt x="190500" y="35719"/>
                    </a:cubicBezTo>
                    <a:cubicBezTo>
                      <a:pt x="190500" y="15992"/>
                      <a:pt x="147855" y="0"/>
                      <a:pt x="95250" y="0"/>
                    </a:cubicBezTo>
                    <a:cubicBezTo>
                      <a:pt x="42645" y="0"/>
                      <a:pt x="0" y="15992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695825" y="2405062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695825" y="2476500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4606290" y="2653665"/>
              <a:ext cx="162731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033"/>
                  </a:solidFill>
                  <a:latin typeface="Consolas"/>
                  <a:ea typeface="Microsoft YaHei"/>
                  <a:cs typeface="Consolas"/>
                </a:rPr>
                <a:t>124876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92215" y="2744152"/>
              <a:ext cx="916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CTA records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91262" y="2983706"/>
              <a:ext cx="12448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full trace 记录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229600" y="2076450"/>
            <a:ext cx="3429000" cy="1371600"/>
            <a:chOff x="8229600" y="2076450"/>
            <a:chExt cx="3429000" cy="1371600"/>
          </a:xfrm>
        </p:grpSpPr>
        <p:sp>
          <p:nvSpPr>
            <p:cNvPr id="35" name="Rectangle 35"/>
            <p:cNvSpPr/>
            <p:nvPr/>
          </p:nvSpPr>
          <p:spPr>
            <a:xfrm>
              <a:off x="8229600" y="2076450"/>
              <a:ext cx="3429000" cy="1371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543917" y="2381250"/>
              <a:ext cx="190508" cy="190500"/>
              <a:chOff x="8543917" y="2381250"/>
              <a:chExt cx="190508" cy="1905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591550" y="242887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30969" y="3191"/>
                    </a:moveTo>
                    <a:cubicBezTo>
                      <a:pt x="138336" y="7444"/>
                      <a:pt x="142875" y="15305"/>
                      <a:pt x="142875" y="23812"/>
                    </a:cubicBezTo>
                    <a:lnTo>
                      <a:pt x="142875" y="119062"/>
                    </a:lnTo>
                    <a:cubicBezTo>
                      <a:pt x="142875" y="132214"/>
                      <a:pt x="132214" y="142875"/>
                      <a:pt x="119062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59531" y="0"/>
                    </a:lnTo>
                  </a:path>
                </a:pathLst>
              </a:custGeom>
              <a:noFill/>
              <a:ln w="19050">
                <a:solidFill>
                  <a:srgbClr val="22C55E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543917" y="2381250"/>
                <a:ext cx="142883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83" h="142875">
                    <a:moveTo>
                      <a:pt x="11915" y="139708"/>
                    </a:moveTo>
                    <a:cubicBezTo>
                      <a:pt x="4540" y="135450"/>
                      <a:pt x="0" y="127578"/>
                      <a:pt x="8" y="119062"/>
                    </a:cubicBezTo>
                    <a:lnTo>
                      <a:pt x="8" y="23812"/>
                    </a:lnTo>
                    <a:cubicBezTo>
                      <a:pt x="8" y="10661"/>
                      <a:pt x="10670" y="0"/>
                      <a:pt x="23821" y="0"/>
                    </a:cubicBezTo>
                    <a:lnTo>
                      <a:pt x="119071" y="0"/>
                    </a:lnTo>
                    <a:cubicBezTo>
                      <a:pt x="132222" y="0"/>
                      <a:pt x="142883" y="10661"/>
                      <a:pt x="142883" y="23812"/>
                    </a:cubicBezTo>
                    <a:lnTo>
                      <a:pt x="142883" y="119062"/>
                    </a:lnTo>
                    <a:cubicBezTo>
                      <a:pt x="142883" y="132214"/>
                      <a:pt x="132222" y="142875"/>
                      <a:pt x="119071" y="142875"/>
                    </a:cubicBezTo>
                    <a:lnTo>
                      <a:pt x="83352" y="142875"/>
                    </a:lnTo>
                  </a:path>
                </a:pathLst>
              </a:custGeom>
              <a:noFill/>
              <a:ln w="19050">
                <a:solidFill>
                  <a:srgbClr val="22C55E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8454390" y="2653665"/>
              <a:ext cx="119715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033"/>
                  </a:solidFill>
                  <a:latin typeface="Consolas"/>
                  <a:ea typeface="Microsoft YaHei"/>
                  <a:cs typeface="Consolas"/>
                </a:rPr>
                <a:t>256d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35515" y="2744152"/>
              <a:ext cx="10694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embedding dim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34562" y="2983706"/>
              <a:ext cx="13483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每个 kernel 向量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33400" y="3790950"/>
            <a:ext cx="3429000" cy="1371600"/>
            <a:chOff x="533400" y="3790950"/>
            <a:chExt cx="3429000" cy="1371600"/>
          </a:xfrm>
        </p:grpSpPr>
        <p:sp>
          <p:nvSpPr>
            <p:cNvPr id="43" name="Rectangle 43"/>
            <p:cNvSpPr/>
            <p:nvPr/>
          </p:nvSpPr>
          <p:spPr>
            <a:xfrm>
              <a:off x="533400" y="3790950"/>
              <a:ext cx="3429000" cy="1371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835819" y="4083844"/>
              <a:ext cx="214312" cy="214312"/>
              <a:chOff x="835819" y="4083844"/>
              <a:chExt cx="214312" cy="21431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35819" y="4083844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0"/>
                    </a:moveTo>
                    <a:lnTo>
                      <a:pt x="0" y="214312"/>
                    </a:lnTo>
                    <a:lnTo>
                      <a:pt x="214312" y="214312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95350" y="4226897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9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90600" y="423880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9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95350" y="41318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9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42975" y="4179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9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026319" y="4179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9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58190" y="4368165"/>
              <a:ext cx="91882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033"/>
                  </a:solidFill>
                  <a:latin typeface="Consolas"/>
                  <a:ea typeface="Microsoft YaHei"/>
                  <a:cs typeface="Consolas"/>
                </a:rPr>
                <a:t>K=2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986915" y="4458652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selected by silhouette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985962" y="469820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最佳候选聚类数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381500" y="3790950"/>
            <a:ext cx="3429000" cy="1371600"/>
            <a:chOff x="4381500" y="3790950"/>
            <a:chExt cx="3429000" cy="1371600"/>
          </a:xfrm>
        </p:grpSpPr>
        <p:sp>
          <p:nvSpPr>
            <p:cNvPr id="55" name="Rectangle 55"/>
            <p:cNvSpPr/>
            <p:nvPr/>
          </p:nvSpPr>
          <p:spPr>
            <a:xfrm>
              <a:off x="4381500" y="3790950"/>
              <a:ext cx="3429000" cy="1371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4683919" y="4095750"/>
              <a:ext cx="214313" cy="200025"/>
              <a:chOff x="4683919" y="4095750"/>
              <a:chExt cx="214313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4683919" y="4191000"/>
                <a:ext cx="71438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0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83344"/>
                    </a:lnTo>
                    <a:cubicBezTo>
                      <a:pt x="71438" y="89919"/>
                      <a:pt x="66107" y="95250"/>
                      <a:pt x="59531" y="95250"/>
                    </a:cubicBezTo>
                    <a:lnTo>
                      <a:pt x="11906" y="95250"/>
                    </a:lnTo>
                    <a:cubicBezTo>
                      <a:pt x="5331" y="95250"/>
                      <a:pt x="0" y="89919"/>
                      <a:pt x="0" y="83344"/>
                    </a:cubicBezTo>
                    <a:lnTo>
                      <a:pt x="0" y="11906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4826794" y="4143375"/>
                <a:ext cx="71438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42875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130969"/>
                    </a:lnTo>
                    <a:cubicBezTo>
                      <a:pt x="71438" y="137544"/>
                      <a:pt x="66107" y="142875"/>
                      <a:pt x="59531" y="142875"/>
                    </a:cubicBezTo>
                    <a:lnTo>
                      <a:pt x="11906" y="142875"/>
                    </a:lnTo>
                    <a:cubicBezTo>
                      <a:pt x="5331" y="142875"/>
                      <a:pt x="0" y="137544"/>
                      <a:pt x="0" y="130969"/>
                    </a:cubicBezTo>
                    <a:lnTo>
                      <a:pt x="0" y="11906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4755356" y="4095750"/>
                <a:ext cx="7143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90500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178594"/>
                    </a:lnTo>
                    <a:cubicBezTo>
                      <a:pt x="71438" y="185169"/>
                      <a:pt x="66107" y="190500"/>
                      <a:pt x="59531" y="190500"/>
                    </a:cubicBezTo>
                    <a:lnTo>
                      <a:pt x="11906" y="190500"/>
                    </a:lnTo>
                    <a:cubicBezTo>
                      <a:pt x="5331" y="190500"/>
                      <a:pt x="0" y="185169"/>
                      <a:pt x="0" y="178594"/>
                    </a:cubicBezTo>
                    <a:lnTo>
                      <a:pt x="0" y="11906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4695825" y="4286250"/>
                <a:ext cx="1666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9525">
                    <a:moveTo>
                      <a:pt x="0" y="0"/>
                    </a:move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4606290" y="4368165"/>
              <a:ext cx="147549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033"/>
                  </a:solidFill>
                  <a:latin typeface="Consolas"/>
                  <a:ea typeface="Microsoft YaHei"/>
                  <a:cs typeface="Consolas"/>
                </a:rPr>
                <a:t>0.482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177915" y="4458652"/>
              <a:ext cx="7934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silhouette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176962" y="469820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聚类分离信号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8229600" y="3790950"/>
            <a:ext cx="3429000" cy="1371600"/>
            <a:chOff x="8229600" y="3790950"/>
            <a:chExt cx="3429000" cy="1371600"/>
          </a:xfrm>
        </p:grpSpPr>
        <p:sp>
          <p:nvSpPr>
            <p:cNvPr id="65" name="Rectangle 65"/>
            <p:cNvSpPr/>
            <p:nvPr/>
          </p:nvSpPr>
          <p:spPr>
            <a:xfrm>
              <a:off x="8229600" y="3790950"/>
              <a:ext cx="3429000" cy="1371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8532019" y="4095750"/>
              <a:ext cx="214312" cy="190500"/>
            </a:xfrm>
            <a:custGeom>
              <a:avLst/>
              <a:gdLst/>
              <a:ahLst/>
              <a:cxnLst/>
              <a:rect l="l" t="t" r="r" b="b"/>
              <a:pathLst>
                <a:path w="214312" h="190500">
                  <a:moveTo>
                    <a:pt x="0" y="95250"/>
                  </a:moveTo>
                  <a:lnTo>
                    <a:pt x="47625" y="95250"/>
                  </a:lnTo>
                  <a:lnTo>
                    <a:pt x="83344" y="190500"/>
                  </a:lnTo>
                  <a:lnTo>
                    <a:pt x="130969" y="0"/>
                  </a:lnTo>
                  <a:lnTo>
                    <a:pt x="166688" y="95250"/>
                  </a:lnTo>
                  <a:lnTo>
                    <a:pt x="214312" y="95250"/>
                  </a:lnTo>
                </a:path>
              </a:pathLst>
            </a:custGeom>
            <a:noFill/>
            <a:ln w="19050">
              <a:solidFill>
                <a:srgbClr val="22C55E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454390" y="4368165"/>
              <a:ext cx="1348978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033"/>
                  </a:solidFill>
                  <a:latin typeface="Consolas"/>
                  <a:ea typeface="Microsoft YaHei"/>
                  <a:cs typeface="Consolas"/>
                </a:rPr>
                <a:t>2.016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045065" y="4458652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inter / intra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044112" y="469820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簇间距离更大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2095500" y="5572125"/>
            <a:ext cx="8001000" cy="476250"/>
            <a:chOff x="2095500" y="5572125"/>
            <a:chExt cx="8001000" cy="476250"/>
          </a:xfrm>
        </p:grpSpPr>
        <p:sp>
          <p:nvSpPr>
            <p:cNvPr id="71" name="Rectangle 71"/>
            <p:cNvSpPr/>
            <p:nvPr/>
          </p:nvSpPr>
          <p:spPr>
            <a:xfrm>
              <a:off x="2095500" y="5572125"/>
              <a:ext cx="8001000" cy="476250"/>
            </a:xfrm>
            <a:prstGeom prst="roundRect">
              <a:avLst>
                <a:gd name="adj" fmla="val 28000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215259" y="5747385"/>
              <a:ext cx="57614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补充指标：Davies-Bouldin = 0.789742，Calinski-Harabasz = 10.301938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21970" y="6417945"/>
            <a:ext cx="11148060" cy="182880"/>
            <a:chOff x="521970" y="6417945"/>
            <a:chExt cx="11148060" cy="182880"/>
          </a:xfrm>
        </p:grpSpPr>
        <p:sp>
          <p:nvSpPr>
            <p:cNvPr id="74" name="TextBox 74"/>
            <p:cNvSpPr txBox="1"/>
            <p:nvPr/>
          </p:nvSpPr>
          <p:spPr>
            <a:xfrm>
              <a:off x="521970" y="6417945"/>
              <a:ext cx="46102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792A2"/>
                  </a:solidFill>
                  <a:latin typeface="Arial"/>
                  <a:ea typeface="Microsoft YaHei"/>
                  <a:cs typeface="Arial"/>
                </a:rPr>
                <a:t>Source: ResNet-50 reproduction artifacts; selector and Gate7 reports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239690" y="64179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792A2"/>
                  </a:solidFill>
                  <a:latin typeface="Consolas"/>
                  <a:ea typeface="Microsoft YaHei"/>
                  <a:cs typeface="Consola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5" grpId="0"/>
      <p:bldP spid="34" grpId="0"/>
      <p:bldP spid="42" grpId="0"/>
      <p:bldP spid="54" grpId="0"/>
      <p:bldP spid="64" grpId="0"/>
      <p:bldP spid="70" grpId="0"/>
      <p:bldP spid="7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48628"/>
            <a:ext cx="7906493" cy="680084"/>
            <a:chOff x="533400" y="448628"/>
            <a:chExt cx="7906493" cy="680084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57150" cy="323850"/>
            </a:xfrm>
            <a:prstGeom prst="roundRect">
              <a:avLst>
                <a:gd name="adj" fmla="val 50000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448628"/>
              <a:ext cx="772932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聚类结果更像“主体样本 + 少量特殊 kernel”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15352"/>
              <a:ext cx="45915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CLUSTER INTERPRETATION · 263 / 2 的不均衡分布需要谨慎解释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3400" y="1200150"/>
            <a:ext cx="11125200" cy="476250"/>
            <a:chOff x="533400" y="1200150"/>
            <a:chExt cx="11125200" cy="476250"/>
          </a:xfrm>
        </p:grpSpPr>
        <p:sp>
          <p:nvSpPr>
            <p:cNvPr id="7" name="Rectangle 7"/>
            <p:cNvSpPr/>
            <p:nvPr/>
          </p:nvSpPr>
          <p:spPr>
            <a:xfrm>
              <a:off x="533400" y="1200150"/>
              <a:ext cx="11125200" cy="476250"/>
            </a:xfrm>
            <a:prstGeom prst="roundRect">
              <a:avLst>
                <a:gd name="adj" fmla="val 28000"/>
              </a:avLst>
            </a:prstGeom>
            <a:solidFill>
              <a:srgbClr val="DC2626">
                <a:alpha val="8000"/>
              </a:srgbClr>
            </a:solidFill>
            <a:ln w="9525">
              <a:solidFill>
                <a:srgbClr val="D8DEE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4858" y="1357789"/>
              <a:ext cx="791853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当前不能直接说得到了两个功能语义类别；更稳妥的表述是识别出少量结构差异明显的 kernel。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66750" y="2047875"/>
            <a:ext cx="6858000" cy="3714750"/>
            <a:chOff x="666750" y="2047875"/>
            <a:chExt cx="6858000" cy="3714750"/>
          </a:xfrm>
        </p:grpSpPr>
        <p:sp>
          <p:nvSpPr>
            <p:cNvPr id="10" name="Rectangle 10"/>
            <p:cNvSpPr/>
            <p:nvPr/>
          </p:nvSpPr>
          <p:spPr>
            <a:xfrm>
              <a:off x="666750" y="2047875"/>
              <a:ext cx="6858000" cy="3714750"/>
            </a:xfrm>
            <a:prstGeom prst="roundRect">
              <a:avLst>
                <a:gd name="adj" fmla="val 5641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2502" y="2265521"/>
              <a:ext cx="388227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Kernel embedding space (schematic)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1238250" y="2714625"/>
              <a:ext cx="5457825" cy="2712244"/>
              <a:chOff x="1238250" y="2714625"/>
              <a:chExt cx="5457825" cy="2712244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1238250" y="5191125"/>
                <a:ext cx="542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29250" h="9525">
                    <a:moveTo>
                      <a:pt x="0" y="0"/>
                    </a:moveTo>
                    <a:lnTo>
                      <a:pt x="5429250" y="0"/>
                    </a:lnTo>
                  </a:path>
                </a:pathLst>
              </a:custGeom>
              <a:noFill/>
              <a:ln w="19050">
                <a:solidFill>
                  <a:srgbClr val="8792A2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238250" y="2714625"/>
                <a:ext cx="9525" cy="2476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76500">
                    <a:moveTo>
                      <a:pt x="0" y="24765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8792A2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1333500" y="2990850"/>
                <a:ext cx="3619500" cy="1828800"/>
              </a:xfrm>
              <a:prstGeom prst="ellipse">
                <a:avLst/>
              </a:prstGeom>
              <a:solidFill>
                <a:srgbClr val="2563EB">
                  <a:alpha val="8000"/>
                </a:srgbClr>
              </a:solidFill>
              <a:ln w="19050">
                <a:solidFill>
                  <a:srgbClr val="2563EB"/>
                </a:solidFill>
                <a:custDash>
                  <a:ds d="400000" sp="300000"/>
                </a:custDash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2409825" y="3695700"/>
                <a:ext cx="133350" cy="13335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2771775" y="4029075"/>
                <a:ext cx="133350" cy="13335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3324225" y="3600450"/>
                <a:ext cx="133350" cy="13335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3667125" y="3933825"/>
                <a:ext cx="133350" cy="13335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2962275" y="3362325"/>
                <a:ext cx="133350" cy="13335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4086225" y="3724275"/>
                <a:ext cx="133350" cy="13335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2657475" y="4362450"/>
                <a:ext cx="133350" cy="13335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3476625" y="4314825"/>
                <a:ext cx="133350" cy="13335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2171700" y="4076700"/>
                <a:ext cx="133350" cy="13335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4362450" y="4171950"/>
                <a:ext cx="133350" cy="13335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3019425" y="3781425"/>
                <a:ext cx="247650" cy="2476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155E75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2557713" y="5228749"/>
                <a:ext cx="11710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B6475"/>
                    </a:solidFill>
                    <a:latin typeface="Arial"/>
                    <a:ea typeface="Microsoft YaHei"/>
                    <a:cs typeface="Arial"/>
                  </a:rPr>
                  <a:t>cluster 0 center</a:t>
                </a: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5905500" y="3048000"/>
                <a:ext cx="190500" cy="1905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6238875" y="3286125"/>
                <a:ext cx="190500" cy="1905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5648325" y="2895600"/>
                <a:ext cx="1047750" cy="723900"/>
              </a:xfrm>
              <a:prstGeom prst="ellipse">
                <a:avLst/>
              </a:prstGeom>
              <a:solidFill>
                <a:srgbClr val="22C55E">
                  <a:alpha val="12000"/>
                </a:srgbClr>
              </a:solidFill>
              <a:ln w="19050">
                <a:solidFill>
                  <a:srgbClr val="22C55E"/>
                </a:solidFill>
                <a:custDash>
                  <a:ds d="300000" sp="250000"/>
                </a:custDash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860780" y="3752374"/>
                <a:ext cx="6228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22C55E"/>
                    </a:solidFill>
                    <a:latin typeface="Arial"/>
                    <a:ea typeface="Microsoft YaHei"/>
                    <a:cs typeface="Arial"/>
                  </a:rPr>
                  <a:t>cluster 1</a:t>
                </a: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225868" y="5438299"/>
              <a:ext cx="39193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792A2"/>
                  </a:solidFill>
                  <a:latin typeface="Arial"/>
                  <a:ea typeface="Microsoft YaHei"/>
                  <a:cs typeface="Arial"/>
                </a:rPr>
                <a:t>注：示意图用于解释 263/2 分布，不表示真实二维投影坐标。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953375" y="2047875"/>
            <a:ext cx="3793332" cy="3714750"/>
            <a:chOff x="7953375" y="2047875"/>
            <a:chExt cx="3793332" cy="3714750"/>
          </a:xfrm>
        </p:grpSpPr>
        <p:sp>
          <p:nvSpPr>
            <p:cNvPr id="34" name="Rectangle 34"/>
            <p:cNvSpPr/>
            <p:nvPr/>
          </p:nvSpPr>
          <p:spPr>
            <a:xfrm>
              <a:off x="7953375" y="2047875"/>
              <a:ext cx="3705225" cy="3714750"/>
            </a:xfrm>
            <a:prstGeom prst="roundRect">
              <a:avLst>
                <a:gd name="adj" fmla="val 5656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8327231" y="2421731"/>
              <a:ext cx="242888" cy="242888"/>
              <a:chOff x="8327231" y="2421731"/>
              <a:chExt cx="242888" cy="242888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327231" y="24217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0"/>
                    </a:moveTo>
                    <a:lnTo>
                      <a:pt x="0" y="242888"/>
                    </a:lnTo>
                    <a:lnTo>
                      <a:pt x="242888" y="242888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94700" y="258385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2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502650" y="259735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2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94700" y="247611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2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448675" y="253008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2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543131" y="253008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2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8722995" y="2450782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如何解读？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8286750" y="3067050"/>
              <a:ext cx="3288196" cy="685800"/>
              <a:chOff x="8286750" y="3067050"/>
              <a:chExt cx="3288196" cy="6858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8286750" y="3067050"/>
                <a:ext cx="28575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EFF6FF"/>
              </a:solidFill>
              <a:ln w="9525">
                <a:solidFill>
                  <a:srgbClr val="D8DEE9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498205" y="3107055"/>
                <a:ext cx="584706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263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176385" y="3147060"/>
                <a:ext cx="143825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主体 kernel 群组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179242" y="3418999"/>
                <a:ext cx="239570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475"/>
                    </a:solidFill>
                    <a:latin typeface="Arial"/>
                    <a:ea typeface="Microsoft YaHei"/>
                    <a:cs typeface="Arial"/>
                  </a:rPr>
                  <a:t>大多数 kernel 在当前表示空间中接近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8286750" y="3981450"/>
              <a:ext cx="3338036" cy="685800"/>
              <a:chOff x="8286750" y="3981450"/>
              <a:chExt cx="3338036" cy="6858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8286750" y="3981450"/>
                <a:ext cx="28575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ECFDF5"/>
              </a:solidFill>
              <a:ln w="9525">
                <a:solidFill>
                  <a:srgbClr val="D8DEE9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498205" y="4021455"/>
                <a:ext cx="230462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22C55E"/>
                    </a:solidFill>
                    <a:latin typeface="Consolas"/>
                    <a:ea typeface="Microsoft YaHei"/>
                    <a:cs typeface="Consolas"/>
                  </a:rPr>
                  <a:t>2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176385" y="4061460"/>
                <a:ext cx="13830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少量特殊 kernel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179242" y="4333399"/>
                <a:ext cx="24455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475"/>
                    </a:solidFill>
                    <a:latin typeface="Arial"/>
                    <a:ea typeface="Microsoft YaHei"/>
                    <a:cs typeface="Arial"/>
                  </a:rPr>
                  <a:t>可能来自图规模、访存或控制结构差异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8347649" y="5041913"/>
              <a:ext cx="3399058" cy="499256"/>
              <a:chOff x="8347649" y="5041913"/>
              <a:chExt cx="3399058" cy="499256"/>
            </a:xfrm>
          </p:grpSpPr>
          <p:grpSp>
            <p:nvGrpSpPr>
              <p:cNvPr id="56" name="Group 56"/>
              <p:cNvGrpSpPr/>
              <p:nvPr/>
            </p:nvGrpSpPr>
            <p:grpSpPr>
              <a:xfrm>
                <a:off x="8347649" y="5041913"/>
                <a:ext cx="240143" cy="206314"/>
                <a:chOff x="8347649" y="5041913"/>
                <a:chExt cx="240143" cy="206314"/>
              </a:xfrm>
            </p:grpSpPr>
            <p:sp>
              <p:nvSpPr>
                <p:cNvPr id="53" name="Freeform 53"/>
                <p:cNvSpPr/>
                <p:nvPr/>
              </p:nvSpPr>
              <p:spPr>
                <a:xfrm>
                  <a:off x="8467725" y="5117306"/>
                  <a:ext cx="95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">
                      <a:moveTo>
                        <a:pt x="0" y="0"/>
                      </a:moveTo>
                      <a:lnTo>
                        <a:pt x="0" y="47625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8347649" y="5041913"/>
                  <a:ext cx="240143" cy="20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43" h="206314">
                      <a:moveTo>
                        <a:pt x="100585" y="10992"/>
                      </a:moveTo>
                      <a:lnTo>
                        <a:pt x="4073" y="172131"/>
                      </a:lnTo>
                      <a:cubicBezTo>
                        <a:pt x="25" y="179142"/>
                        <a:pt x="0" y="187775"/>
                        <a:pt x="4008" y="194810"/>
                      </a:cubicBezTo>
                      <a:cubicBezTo>
                        <a:pt x="8017" y="201844"/>
                        <a:pt x="15456" y="206223"/>
                        <a:pt x="23552" y="206314"/>
                      </a:cubicBezTo>
                      <a:lnTo>
                        <a:pt x="216600" y="206314"/>
                      </a:lnTo>
                      <a:cubicBezTo>
                        <a:pt x="224692" y="206221"/>
                        <a:pt x="232127" y="201843"/>
                        <a:pt x="236135" y="194813"/>
                      </a:cubicBezTo>
                      <a:cubicBezTo>
                        <a:pt x="240143" y="187782"/>
                        <a:pt x="240121" y="179154"/>
                        <a:pt x="236078" y="172143"/>
                      </a:cubicBezTo>
                      <a:lnTo>
                        <a:pt x="139566" y="10980"/>
                      </a:lnTo>
                      <a:cubicBezTo>
                        <a:pt x="135437" y="4164"/>
                        <a:pt x="128046" y="0"/>
                        <a:pt x="120076" y="0"/>
                      </a:cubicBezTo>
                      <a:cubicBezTo>
                        <a:pt x="112106" y="0"/>
                        <a:pt x="104715" y="4164"/>
                        <a:pt x="100585" y="10980"/>
                      </a:cubicBez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8467725" y="52006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9" y="0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8729662" y="5079206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DC2626"/>
                    </a:solidFill>
                    <a:latin typeface="Arial"/>
                    <a:ea typeface="Microsoft YaHei"/>
                    <a:cs typeface="Arial"/>
                  </a:rPr>
                  <a:t>谨慎边界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731568" y="5343049"/>
                <a:ext cx="30151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475"/>
                    </a:solidFill>
                    <a:latin typeface="Arial"/>
                    <a:ea typeface="Microsoft YaHei"/>
                    <a:cs typeface="Arial"/>
                  </a:rPr>
                  <a:t>尚不能直接声明两个簇就是两个真实功能类别。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521970" y="6417945"/>
            <a:ext cx="11148060" cy="182880"/>
            <a:chOff x="521970" y="6417945"/>
            <a:chExt cx="11148060" cy="182880"/>
          </a:xfrm>
        </p:grpSpPr>
        <p:sp>
          <p:nvSpPr>
            <p:cNvPr id="61" name="TextBox 61"/>
            <p:cNvSpPr txBox="1"/>
            <p:nvPr/>
          </p:nvSpPr>
          <p:spPr>
            <a:xfrm>
              <a:off x="521970" y="6417945"/>
              <a:ext cx="3847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792A2"/>
                  </a:solidFill>
                  <a:latin typeface="Arial"/>
                  <a:ea typeface="Microsoft YaHei"/>
                  <a:cs typeface="Arial"/>
                </a:rPr>
                <a:t>Source: selector artifacts and cluster correctness report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72552" y="641794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792A2"/>
                  </a:solidFill>
                  <a:latin typeface="Consolas"/>
                  <a:ea typeface="Microsoft YaHei"/>
                  <a:cs typeface="Consola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3" grpId="0"/>
      <p:bldP spid="6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48628"/>
            <a:ext cx="8317094" cy="680084"/>
            <a:chOff x="533400" y="448628"/>
            <a:chExt cx="8317094" cy="680084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57150" cy="32385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0565" y="448628"/>
              <a:ext cx="813992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课程报告结论：代表 kernel 显著减少模拟对象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615" y="915352"/>
              <a:ext cx="55496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COURSE CONCLUSION · 从 265 个 kernel invocation 压缩到 2 个代表 kernel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3400" y="1295400"/>
            <a:ext cx="11125200" cy="1485900"/>
            <a:chOff x="533400" y="1295400"/>
            <a:chExt cx="11125200" cy="1485900"/>
          </a:xfrm>
        </p:grpSpPr>
        <p:sp>
          <p:nvSpPr>
            <p:cNvPr id="7" name="Rectangle 7"/>
            <p:cNvSpPr/>
            <p:nvPr/>
          </p:nvSpPr>
          <p:spPr>
            <a:xfrm>
              <a:off x="533400" y="1295400"/>
              <a:ext cx="11125200" cy="1485900"/>
            </a:xfrm>
            <a:prstGeom prst="roundRect">
              <a:avLst>
                <a:gd name="adj" fmla="val 14103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963612" y="1709738"/>
              <a:ext cx="244475" cy="314325"/>
            </a:xfrm>
            <a:custGeom>
              <a:avLst/>
              <a:gdLst/>
              <a:ahLst/>
              <a:cxnLst/>
              <a:rect l="l" t="t" r="r" b="b"/>
              <a:pathLst>
                <a:path w="244475" h="314325">
                  <a:moveTo>
                    <a:pt x="139700" y="0"/>
                  </a:moveTo>
                  <a:lnTo>
                    <a:pt x="139700" y="122238"/>
                  </a:lnTo>
                  <a:lnTo>
                    <a:pt x="244475" y="122238"/>
                  </a:lnTo>
                  <a:lnTo>
                    <a:pt x="104775" y="314325"/>
                  </a:lnTo>
                  <a:lnTo>
                    <a:pt x="104775" y="192087"/>
                  </a:lnTo>
                  <a:lnTo>
                    <a:pt x="0" y="192087"/>
                  </a:lnTo>
                  <a:lnTo>
                    <a:pt x="139700" y="0"/>
                  </a:lnTo>
                </a:path>
              </a:pathLst>
            </a:custGeom>
            <a:noFill/>
            <a:ln w="19050">
              <a:solidFill>
                <a:srgbClr val="22C55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85900" y="167640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理论模拟加速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90662" y="2012156"/>
              <a:ext cx="44073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按模拟对象数量估算：265 个原始 kernel / 2 个代表 kernel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07562" y="1607820"/>
              <a:ext cx="2662876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132.5x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3392" y="2355056"/>
              <a:ext cx="31512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约 132.5 倍模拟对象压缩带来的理论加速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620250" y="1657350"/>
              <a:ext cx="1447800" cy="552450"/>
            </a:xfrm>
            <a:prstGeom prst="roundRect">
              <a:avLst>
                <a:gd name="adj" fmla="val 24138"/>
              </a:avLst>
            </a:prstGeom>
            <a:solidFill>
              <a:srgbClr val="F7F9FC"/>
            </a:solidFill>
            <a:ln w="9525">
              <a:solidFill>
                <a:srgbClr val="D8DEE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46970" y="17806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压缩比例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58932" y="1920240"/>
              <a:ext cx="97043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265 → 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85800" y="3238500"/>
            <a:ext cx="4911042" cy="1790700"/>
            <a:chOff x="685800" y="3238500"/>
            <a:chExt cx="4911042" cy="1790700"/>
          </a:xfrm>
        </p:grpSpPr>
        <p:sp>
          <p:nvSpPr>
            <p:cNvPr id="17" name="Rectangle 17"/>
            <p:cNvSpPr/>
            <p:nvPr/>
          </p:nvSpPr>
          <p:spPr>
            <a:xfrm>
              <a:off x="685800" y="3238500"/>
              <a:ext cx="3238500" cy="1790700"/>
            </a:xfrm>
            <a:prstGeom prst="roundRect">
              <a:avLst>
                <a:gd name="adj" fmla="val 9574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44575" y="3583781"/>
              <a:ext cx="215900" cy="242888"/>
              <a:chOff x="1044575" y="3583781"/>
              <a:chExt cx="215900" cy="24288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44575" y="3583781"/>
                <a:ext cx="215900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80962">
                    <a:moveTo>
                      <a:pt x="0" y="40481"/>
                    </a:moveTo>
                    <a:cubicBezTo>
                      <a:pt x="0" y="62838"/>
                      <a:pt x="48331" y="80962"/>
                      <a:pt x="107950" y="80962"/>
                    </a:cubicBezTo>
                    <a:cubicBezTo>
                      <a:pt x="167569" y="80962"/>
                      <a:pt x="215900" y="62838"/>
                      <a:pt x="215900" y="40481"/>
                    </a:cubicBezTo>
                    <a:cubicBezTo>
                      <a:pt x="215900" y="18124"/>
                      <a:pt x="167569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44575" y="3624262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44575" y="3705225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447800" y="3619500"/>
              <a:ext cx="17288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真实 trace 输入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0595" y="3927158"/>
              <a:ext cx="87706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265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46910" y="4118610"/>
              <a:ext cx="15670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kernel invocation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7265" y="4515802"/>
              <a:ext cx="46195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输入来自 ResNet-50 full trace，覆盖真实执行中的 kernel 调用。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476750" y="3238500"/>
            <a:ext cx="4351306" cy="1790700"/>
            <a:chOff x="4476750" y="3238500"/>
            <a:chExt cx="4351306" cy="1790700"/>
          </a:xfrm>
        </p:grpSpPr>
        <p:sp>
          <p:nvSpPr>
            <p:cNvPr id="27" name="Rectangle 27"/>
            <p:cNvSpPr/>
            <p:nvPr/>
          </p:nvSpPr>
          <p:spPr>
            <a:xfrm>
              <a:off x="4476750" y="3238500"/>
              <a:ext cx="3238500" cy="1790700"/>
            </a:xfrm>
            <a:prstGeom prst="roundRect">
              <a:avLst>
                <a:gd name="adj" fmla="val 9574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4822031" y="3583781"/>
              <a:ext cx="242888" cy="242888"/>
              <a:chOff x="4822031" y="3583781"/>
              <a:chExt cx="242888" cy="24288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822031" y="358378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0"/>
                    </a:moveTo>
                    <a:lnTo>
                      <a:pt x="0" y="242888"/>
                    </a:lnTo>
                    <a:lnTo>
                      <a:pt x="242888" y="242888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889500" y="374590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2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997450" y="375940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2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889500" y="36381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2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943475" y="36921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2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037931" y="36921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2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5238750" y="3619500"/>
              <a:ext cx="14067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聚类选择 K=2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41545" y="3927158"/>
              <a:ext cx="169826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2563EB"/>
                  </a:solidFill>
                  <a:latin typeface="Consolas"/>
                  <a:ea typeface="Microsoft YaHei"/>
                  <a:cs typeface="Consolas"/>
                </a:rPr>
                <a:t>263 / 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68215" y="4515802"/>
              <a:ext cx="40598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主体 kernel 与少量特殊 kernel 被分离，得到两个代表簇。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267700" y="3238500"/>
            <a:ext cx="4305300" cy="1790700"/>
            <a:chOff x="8267700" y="3238500"/>
            <a:chExt cx="4305300" cy="1790700"/>
          </a:xfrm>
        </p:grpSpPr>
        <p:sp>
          <p:nvSpPr>
            <p:cNvPr id="39" name="Rectangle 39"/>
            <p:cNvSpPr/>
            <p:nvPr/>
          </p:nvSpPr>
          <p:spPr>
            <a:xfrm>
              <a:off x="8267700" y="3238500"/>
              <a:ext cx="3238500" cy="1790700"/>
            </a:xfrm>
            <a:prstGeom prst="roundRect">
              <a:avLst>
                <a:gd name="adj" fmla="val 9574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8602576" y="3578771"/>
              <a:ext cx="258223" cy="258245"/>
              <a:chOff x="8602576" y="3578771"/>
              <a:chExt cx="258223" cy="25824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720931" y="3691731"/>
                <a:ext cx="26987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7" y="20946"/>
                      <a:pt x="26987" y="13494"/>
                    </a:cubicBezTo>
                    <a:cubicBezTo>
                      <a:pt x="26987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22C55E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666956" y="3637756"/>
                <a:ext cx="134938" cy="134937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7">
                    <a:moveTo>
                      <a:pt x="67469" y="0"/>
                    </a:moveTo>
                    <a:cubicBezTo>
                      <a:pt x="30207" y="0"/>
                      <a:pt x="0" y="30207"/>
                      <a:pt x="0" y="67469"/>
                    </a:cubicBezTo>
                    <a:cubicBezTo>
                      <a:pt x="0" y="104731"/>
                      <a:pt x="30207" y="134937"/>
                      <a:pt x="67469" y="134937"/>
                    </a:cubicBezTo>
                    <a:cubicBezTo>
                      <a:pt x="104731" y="134937"/>
                      <a:pt x="134938" y="104731"/>
                      <a:pt x="134938" y="67469"/>
                    </a:cubicBezTo>
                  </a:path>
                </a:pathLst>
              </a:custGeom>
              <a:noFill/>
              <a:ln w="19050">
                <a:solidFill>
                  <a:srgbClr val="22C55E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602576" y="3578771"/>
                <a:ext cx="258223" cy="258245"/>
              </a:xfrm>
              <a:custGeom>
                <a:avLst/>
                <a:gdLst/>
                <a:ahLst/>
                <a:cxnLst/>
                <a:rect l="l" t="t" r="r" b="b"/>
                <a:pathLst>
                  <a:path w="258223" h="258245">
                    <a:moveTo>
                      <a:pt x="145343" y="5752"/>
                    </a:moveTo>
                    <a:cubicBezTo>
                      <a:pt x="94071" y="0"/>
                      <a:pt x="44761" y="27272"/>
                      <a:pt x="22380" y="73759"/>
                    </a:cubicBezTo>
                    <a:cubicBezTo>
                      <a:pt x="0" y="120246"/>
                      <a:pt x="9435" y="175799"/>
                      <a:pt x="45908" y="212291"/>
                    </a:cubicBezTo>
                    <a:cubicBezTo>
                      <a:pt x="82381" y="248782"/>
                      <a:pt x="137930" y="258245"/>
                      <a:pt x="184428" y="235888"/>
                    </a:cubicBezTo>
                    <a:cubicBezTo>
                      <a:pt x="230927" y="213531"/>
                      <a:pt x="258223" y="164235"/>
                      <a:pt x="252497" y="112960"/>
                    </a:cubicBezTo>
                  </a:path>
                </a:pathLst>
              </a:custGeom>
              <a:noFill/>
              <a:ln w="19050">
                <a:solidFill>
                  <a:srgbClr val="22C55E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74906" y="3583781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40481"/>
                    </a:moveTo>
                    <a:lnTo>
                      <a:pt x="0" y="80962"/>
                    </a:lnTo>
                    <a:lnTo>
                      <a:pt x="40481" y="80962"/>
                    </a:lnTo>
                    <a:lnTo>
                      <a:pt x="80962" y="40481"/>
                    </a:lnTo>
                    <a:lnTo>
                      <a:pt x="40481" y="40481"/>
                    </a:lnTo>
                    <a:lnTo>
                      <a:pt x="40481" y="0"/>
                    </a:ln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22C55E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34425" y="3664744"/>
                <a:ext cx="40481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40481">
                    <a:moveTo>
                      <a:pt x="40481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22C55E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9029700" y="3619500"/>
              <a:ext cx="17978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代表 kernel 输出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32495" y="3927158"/>
              <a:ext cx="34569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33510" y="4118610"/>
              <a:ext cx="21191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representative kernels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59165" y="4515802"/>
              <a:ext cx="4013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后续课程实验只需围绕代表样本分析，显著降低模拟规模。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85800" y="5429250"/>
            <a:ext cx="10892600" cy="552450"/>
            <a:chOff x="685800" y="5429250"/>
            <a:chExt cx="10892600" cy="552450"/>
          </a:xfrm>
        </p:grpSpPr>
        <p:sp>
          <p:nvSpPr>
            <p:cNvPr id="51" name="Rectangle 51"/>
            <p:cNvSpPr/>
            <p:nvPr/>
          </p:nvSpPr>
          <p:spPr>
            <a:xfrm>
              <a:off x="685800" y="5429250"/>
              <a:ext cx="10820400" cy="552450"/>
            </a:xfrm>
            <a:prstGeom prst="roundRect">
              <a:avLst>
                <a:gd name="adj" fmla="val 27586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54405" y="562641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结论：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564958" y="5634514"/>
              <a:ext cx="1001344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GCL + RGCN + K-means 能将本次 ResNet-50 trace 的模拟对象从 265 个压缩到 2 个，理论上约提升 132.5 倍模拟效率。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21970" y="6417945"/>
            <a:ext cx="11148060" cy="182880"/>
            <a:chOff x="521970" y="6417945"/>
            <a:chExt cx="11148060" cy="182880"/>
          </a:xfrm>
        </p:grpSpPr>
        <p:sp>
          <p:nvSpPr>
            <p:cNvPr id="55" name="TextBox 55"/>
            <p:cNvSpPr txBox="1"/>
            <p:nvPr/>
          </p:nvSpPr>
          <p:spPr>
            <a:xfrm>
              <a:off x="521970" y="6417945"/>
              <a:ext cx="43605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792A2"/>
                  </a:solidFill>
                  <a:latin typeface="Arial"/>
                  <a:ea typeface="Microsoft YaHei"/>
                  <a:cs typeface="Arial"/>
                </a:rPr>
                <a:t>Speedup estimate: 265 kernel invocation / 2 representative kernels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305413" y="6417945"/>
              <a:ext cx="3646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792A2"/>
                  </a:solidFill>
                  <a:latin typeface="Consolas"/>
                  <a:ea typeface="Microsoft YaHei"/>
                  <a:cs typeface="Consolas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  <p:bldP spid="38" grpId="0"/>
      <p:bldP spid="50" grpId="0"/>
      <p:bldP spid="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62000" y="762000"/>
            <a:ext cx="10668000" cy="5334000"/>
            <a:chOff x="762000" y="762000"/>
            <a:chExt cx="10668000" cy="5334000"/>
          </a:xfrm>
        </p:grpSpPr>
        <p:sp>
          <p:nvSpPr>
            <p:cNvPr id="3" name="Freeform 3"/>
            <p:cNvSpPr/>
            <p:nvPr/>
          </p:nvSpPr>
          <p:spPr>
            <a:xfrm>
              <a:off x="762000" y="1143000"/>
              <a:ext cx="10668000" cy="4762500"/>
            </a:xfrm>
            <a:custGeom>
              <a:avLst/>
              <a:gdLst/>
              <a:ahLst/>
              <a:cxnLst/>
              <a:rect l="l" t="t" r="r" b="b"/>
              <a:pathLst>
                <a:path w="10668000" h="4762500">
                  <a:moveTo>
                    <a:pt x="0" y="0"/>
                  </a:moveTo>
                  <a:lnTo>
                    <a:pt x="10668000" y="0"/>
                  </a:lnTo>
                  <a:moveTo>
                    <a:pt x="0" y="952500"/>
                  </a:moveTo>
                  <a:lnTo>
                    <a:pt x="10668000" y="952500"/>
                  </a:lnTo>
                  <a:moveTo>
                    <a:pt x="0" y="1905000"/>
                  </a:moveTo>
                  <a:lnTo>
                    <a:pt x="10668000" y="1905000"/>
                  </a:lnTo>
                  <a:moveTo>
                    <a:pt x="0" y="2857500"/>
                  </a:moveTo>
                  <a:lnTo>
                    <a:pt x="10668000" y="2857500"/>
                  </a:lnTo>
                  <a:moveTo>
                    <a:pt x="0" y="3810000"/>
                  </a:moveTo>
                  <a:lnTo>
                    <a:pt x="10668000" y="3810000"/>
                  </a:lnTo>
                  <a:moveTo>
                    <a:pt x="0" y="4762500"/>
                  </a:moveTo>
                  <a:lnTo>
                    <a:pt x="10668000" y="47625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8DEE9">
                  <a:alpha val="3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1524000" y="762000"/>
              <a:ext cx="9144000" cy="5334000"/>
            </a:xfrm>
            <a:custGeom>
              <a:avLst/>
              <a:gdLst/>
              <a:ahLst/>
              <a:cxnLst/>
              <a:rect l="l" t="t" r="r" b="b"/>
              <a:pathLst>
                <a:path w="9144000" h="5334000">
                  <a:moveTo>
                    <a:pt x="0" y="0"/>
                  </a:moveTo>
                  <a:lnTo>
                    <a:pt x="0" y="5334000"/>
                  </a:lnTo>
                  <a:moveTo>
                    <a:pt x="1524000" y="0"/>
                  </a:moveTo>
                  <a:lnTo>
                    <a:pt x="1524000" y="5334000"/>
                  </a:lnTo>
                  <a:moveTo>
                    <a:pt x="3048000" y="0"/>
                  </a:moveTo>
                  <a:lnTo>
                    <a:pt x="3048000" y="5334000"/>
                  </a:lnTo>
                  <a:moveTo>
                    <a:pt x="4572000" y="0"/>
                  </a:moveTo>
                  <a:lnTo>
                    <a:pt x="4572000" y="5334000"/>
                  </a:lnTo>
                  <a:moveTo>
                    <a:pt x="6096000" y="0"/>
                  </a:moveTo>
                  <a:lnTo>
                    <a:pt x="6096000" y="5334000"/>
                  </a:lnTo>
                  <a:moveTo>
                    <a:pt x="7620000" y="0"/>
                  </a:moveTo>
                  <a:lnTo>
                    <a:pt x="7620000" y="5334000"/>
                  </a:lnTo>
                  <a:moveTo>
                    <a:pt x="9144000" y="0"/>
                  </a:moveTo>
                  <a:lnTo>
                    <a:pt x="9144000" y="5334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8DEE9">
                  <a:alpha val="25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33400" y="448628"/>
            <a:ext cx="7124395" cy="680084"/>
            <a:chOff x="533400" y="448628"/>
            <a:chExt cx="7124395" cy="680084"/>
          </a:xfrm>
        </p:grpSpPr>
        <p:sp>
          <p:nvSpPr>
            <p:cNvPr id="6" name="Rectangle 6"/>
            <p:cNvSpPr/>
            <p:nvPr/>
          </p:nvSpPr>
          <p:spPr>
            <a:xfrm>
              <a:off x="533400" y="457200"/>
              <a:ext cx="57150" cy="323850"/>
            </a:xfrm>
            <a:prstGeom prst="roundRect">
              <a:avLst>
                <a:gd name="adj" fmla="val 50000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10565" y="448628"/>
              <a:ext cx="694723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GCL 完成 kernel 表示学习与代表性压缩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29615" y="915352"/>
              <a:ext cx="28606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FINAL CONCLUSION · 课程报告最终结论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6800" y="1600200"/>
            <a:ext cx="10058400" cy="1833562"/>
            <a:chOff x="1066800" y="1600200"/>
            <a:chExt cx="10058400" cy="1833562"/>
          </a:xfrm>
        </p:grpSpPr>
        <p:sp>
          <p:nvSpPr>
            <p:cNvPr id="10" name="Rectangle 10"/>
            <p:cNvSpPr/>
            <p:nvPr/>
          </p:nvSpPr>
          <p:spPr>
            <a:xfrm>
              <a:off x="1066800" y="1600200"/>
              <a:ext cx="10058400" cy="1695450"/>
            </a:xfrm>
            <a:prstGeom prst="roundRect">
              <a:avLst>
                <a:gd name="adj" fmla="val 14607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726222" y="1939290"/>
              <a:ext cx="673955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通过 GCL 聚类采样，我们将模拟对象规模压缩为原来的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49909" y="2245042"/>
              <a:ext cx="3692183" cy="1188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85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1 / 132.5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59047" y="3002756"/>
              <a:ext cx="26739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等价表述：理论模拟加速约 132.5 倍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57300" y="3848100"/>
            <a:ext cx="9677400" cy="1066800"/>
            <a:chOff x="1257300" y="3848100"/>
            <a:chExt cx="9677400" cy="1066800"/>
          </a:xfrm>
        </p:grpSpPr>
        <p:sp>
          <p:nvSpPr>
            <p:cNvPr id="15" name="Rectangle 15"/>
            <p:cNvSpPr/>
            <p:nvPr/>
          </p:nvSpPr>
          <p:spPr>
            <a:xfrm>
              <a:off x="1257300" y="3848100"/>
              <a:ext cx="2247900" cy="106680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1566862" y="4119562"/>
              <a:ext cx="226219" cy="238125"/>
              <a:chOff x="1566862" y="4119562"/>
              <a:chExt cx="226219" cy="2381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566862" y="431006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685925" y="411956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685925" y="431006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626394" y="42148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745456" y="42148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603272" y="4258866"/>
                <a:ext cx="3429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4290" h="54840">
                    <a:moveTo>
                      <a:pt x="0" y="54840"/>
                    </a:moveTo>
                    <a:lnTo>
                      <a:pt x="3429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662839" y="4163604"/>
                <a:ext cx="34254" cy="54816"/>
              </a:xfrm>
              <a:custGeom>
                <a:avLst/>
                <a:gdLst/>
                <a:ahLst/>
                <a:cxnLst/>
                <a:rect l="l" t="t" r="r" b="b"/>
                <a:pathLst>
                  <a:path w="34254" h="54816">
                    <a:moveTo>
                      <a:pt x="0" y="54816"/>
                    </a:moveTo>
                    <a:lnTo>
                      <a:pt x="34254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662886" y="4258925"/>
                <a:ext cx="34242" cy="54769"/>
              </a:xfrm>
              <a:custGeom>
                <a:avLst/>
                <a:gdLst/>
                <a:ahLst/>
                <a:cxnLst/>
                <a:rect l="l" t="t" r="r" b="b"/>
                <a:pathLst>
                  <a:path w="34242" h="54769">
                    <a:moveTo>
                      <a:pt x="0" y="0"/>
                    </a:moveTo>
                    <a:lnTo>
                      <a:pt x="34242" y="54769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722394" y="4163616"/>
                <a:ext cx="34302" cy="54888"/>
              </a:xfrm>
              <a:custGeom>
                <a:avLst/>
                <a:gdLst/>
                <a:ahLst/>
                <a:cxnLst/>
                <a:rect l="l" t="t" r="r" b="b"/>
                <a:pathLst>
                  <a:path w="34302" h="54888">
                    <a:moveTo>
                      <a:pt x="0" y="0"/>
                    </a:moveTo>
                    <a:lnTo>
                      <a:pt x="34302" y="54888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983105" y="4169092"/>
              <a:ext cx="375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GNN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29715" y="4534852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学习 kernel 图结构表示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3667125" y="4362450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8792A2"/>
              </a:solidFill>
              <a:custDash>
                <a:ds d="266666" sp="233333"/>
              </a:custDash>
            </a:ln>
          </p:spPr>
        </p:sp>
        <p:sp>
          <p:nvSpPr>
            <p:cNvPr id="29" name="Rectangle 29"/>
            <p:cNvSpPr/>
            <p:nvPr/>
          </p:nvSpPr>
          <p:spPr>
            <a:xfrm>
              <a:off x="4591050" y="3848100"/>
              <a:ext cx="2247900" cy="106680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4936331" y="4131469"/>
              <a:ext cx="166688" cy="214312"/>
            </a:xfrm>
            <a:custGeom>
              <a:avLst/>
              <a:gdLst/>
              <a:ahLst/>
              <a:cxnLst/>
              <a:rect l="l" t="t" r="r" b="b"/>
              <a:pathLst>
                <a:path w="166688" h="214312">
                  <a:moveTo>
                    <a:pt x="95250" y="0"/>
                  </a:moveTo>
                  <a:lnTo>
                    <a:pt x="95250" y="83344"/>
                  </a:lnTo>
                  <a:lnTo>
                    <a:pt x="166688" y="83344"/>
                  </a:lnTo>
                  <a:lnTo>
                    <a:pt x="71438" y="214312"/>
                  </a:lnTo>
                  <a:lnTo>
                    <a:pt x="71438" y="130969"/>
                  </a:lnTo>
                  <a:lnTo>
                    <a:pt x="0" y="130969"/>
                  </a:ln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16855" y="4169092"/>
              <a:ext cx="375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GCL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63465" y="45348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无标签学习结构相似性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7000875" y="4362450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8792A2"/>
              </a:solidFill>
              <a:custDash>
                <a:ds d="266666" sp="233333"/>
              </a:custDash>
            </a:ln>
          </p:spPr>
        </p:sp>
        <p:sp>
          <p:nvSpPr>
            <p:cNvPr id="34" name="Rectangle 34"/>
            <p:cNvSpPr/>
            <p:nvPr/>
          </p:nvSpPr>
          <p:spPr>
            <a:xfrm>
              <a:off x="7924800" y="3848100"/>
              <a:ext cx="3009900" cy="106680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9525">
              <a:solidFill>
                <a:srgbClr val="D8DEE9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237087" y="4127048"/>
              <a:ext cx="227844" cy="227864"/>
              <a:chOff x="8237087" y="4127048"/>
              <a:chExt cx="227844" cy="227864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341519" y="422671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22C55E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93894" y="4179094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59531" y="0"/>
                    </a:moveTo>
                    <a:cubicBezTo>
                      <a:pt x="26653" y="0"/>
                      <a:pt x="0" y="26653"/>
                      <a:pt x="0" y="59531"/>
                    </a:cubicBezTo>
                    <a:cubicBezTo>
                      <a:pt x="0" y="92409"/>
                      <a:pt x="26653" y="119062"/>
                      <a:pt x="59531" y="119062"/>
                    </a:cubicBezTo>
                    <a:cubicBezTo>
                      <a:pt x="92409" y="119062"/>
                      <a:pt x="119062" y="92409"/>
                      <a:pt x="119062" y="59531"/>
                    </a:cubicBezTo>
                  </a:path>
                </a:pathLst>
              </a:custGeom>
              <a:noFill/>
              <a:ln w="19050">
                <a:solidFill>
                  <a:srgbClr val="22C55E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37087" y="4127048"/>
                <a:ext cx="227844" cy="227864"/>
              </a:xfrm>
              <a:custGeom>
                <a:avLst/>
                <a:gdLst/>
                <a:ahLst/>
                <a:cxnLst/>
                <a:rect l="l" t="t" r="r" b="b"/>
                <a:pathLst>
                  <a:path w="227844" h="227864">
                    <a:moveTo>
                      <a:pt x="128244" y="5075"/>
                    </a:moveTo>
                    <a:cubicBezTo>
                      <a:pt x="83004" y="0"/>
                      <a:pt x="39495" y="24063"/>
                      <a:pt x="19747" y="65081"/>
                    </a:cubicBezTo>
                    <a:cubicBezTo>
                      <a:pt x="0" y="106099"/>
                      <a:pt x="8325" y="155117"/>
                      <a:pt x="40507" y="187315"/>
                    </a:cubicBezTo>
                    <a:cubicBezTo>
                      <a:pt x="72689" y="219514"/>
                      <a:pt x="121703" y="227864"/>
                      <a:pt x="162731" y="208137"/>
                    </a:cubicBezTo>
                    <a:cubicBezTo>
                      <a:pt x="203759" y="188410"/>
                      <a:pt x="227844" y="144913"/>
                      <a:pt x="222791" y="99671"/>
                    </a:cubicBezTo>
                  </a:path>
                </a:pathLst>
              </a:custGeom>
              <a:noFill/>
              <a:ln w="19050">
                <a:solidFill>
                  <a:srgbClr val="22C55E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9144" y="4131469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35719"/>
                    </a:moveTo>
                    <a:lnTo>
                      <a:pt x="0" y="71438"/>
                    </a:lnTo>
                    <a:lnTo>
                      <a:pt x="35719" y="71438"/>
                    </a:lnTo>
                    <a:lnTo>
                      <a:pt x="71438" y="35719"/>
                    </a:lnTo>
                    <a:lnTo>
                      <a:pt x="35719" y="35719"/>
                    </a:lnTo>
                    <a:lnTo>
                      <a:pt x="35719" y="0"/>
                    </a:lnTo>
                    <a:lnTo>
                      <a:pt x="0" y="35719"/>
                    </a:lnTo>
                  </a:path>
                </a:pathLst>
              </a:custGeom>
              <a:noFill/>
              <a:ln w="19050">
                <a:solidFill>
                  <a:srgbClr val="22C55E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53425" y="4202906"/>
                <a:ext cx="35719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35719">
                    <a:moveTo>
                      <a:pt x="35719" y="0"/>
                    </a:moveTo>
                    <a:lnTo>
                      <a:pt x="0" y="35719"/>
                    </a:lnTo>
                  </a:path>
                </a:pathLst>
              </a:custGeom>
              <a:noFill/>
              <a:ln w="19050">
                <a:solidFill>
                  <a:srgbClr val="22C55E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650605" y="4169092"/>
              <a:ext cx="8727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K-means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97215" y="4534852"/>
              <a:ext cx="1613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Arial"/>
                  <a:ea typeface="Microsoft YaHei"/>
                  <a:cs typeface="Arial"/>
                </a:rPr>
                <a:t>聚类并选择代表 kernel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66800" y="5429250"/>
            <a:ext cx="10071783" cy="590550"/>
            <a:chOff x="1066800" y="5429250"/>
            <a:chExt cx="10071783" cy="590550"/>
          </a:xfrm>
        </p:grpSpPr>
        <p:sp>
          <p:nvSpPr>
            <p:cNvPr id="44" name="Rectangle 44"/>
            <p:cNvSpPr/>
            <p:nvPr/>
          </p:nvSpPr>
          <p:spPr>
            <a:xfrm>
              <a:off x="1066800" y="5429250"/>
              <a:ext cx="10058400" cy="590550"/>
            </a:xfrm>
            <a:prstGeom prst="roundRect">
              <a:avLst>
                <a:gd name="adj" fmla="val 29032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1427162" y="5659438"/>
              <a:ext cx="166688" cy="111125"/>
            </a:xfrm>
            <a:custGeom>
              <a:avLst/>
              <a:gdLst/>
              <a:ahLst/>
              <a:cxnLst/>
              <a:rect l="l" t="t" r="r" b="b"/>
              <a:pathLst>
                <a:path w="166688" h="111125">
                  <a:moveTo>
                    <a:pt x="0" y="55563"/>
                  </a:moveTo>
                  <a:lnTo>
                    <a:pt x="55562" y="111125"/>
                  </a:lnTo>
                  <a:lnTo>
                    <a:pt x="166688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792605" y="56454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最终结论：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707958" y="5653564"/>
              <a:ext cx="84306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本课程报告完成了从真实 trace 到代表 kernel 选择的端到端复现，并得到约 132.5 倍理论模拟加速。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21970" y="6417945"/>
            <a:ext cx="11148060" cy="182880"/>
            <a:chOff x="521970" y="6417945"/>
            <a:chExt cx="11148060" cy="182880"/>
          </a:xfrm>
        </p:grpSpPr>
        <p:sp>
          <p:nvSpPr>
            <p:cNvPr id="49" name="TextBox 49"/>
            <p:cNvSpPr txBox="1"/>
            <p:nvPr/>
          </p:nvSpPr>
          <p:spPr>
            <a:xfrm>
              <a:off x="521970" y="6417945"/>
              <a:ext cx="29738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792A2"/>
                  </a:solidFill>
                  <a:latin typeface="Arial"/>
                  <a:ea typeface="Microsoft YaHei"/>
                  <a:cs typeface="Arial"/>
                </a:rPr>
                <a:t>GCL GPU simulation acceleration course report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72552" y="641794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792A2"/>
                  </a:solidFill>
                  <a:latin typeface="Consolas"/>
                  <a:ea typeface="Microsoft YaHei"/>
                  <a:cs typeface="Consolas"/>
                </a:rPr>
                <a:t>12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3" grpId="0"/>
      <p:bldP spid="4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