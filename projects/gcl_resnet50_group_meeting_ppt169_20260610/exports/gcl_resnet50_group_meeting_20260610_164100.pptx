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本页先给出结论：我们已经把 GCL-Sampler 的复现链路从真实 trace 推进到 ResNet50 kernel 分组结果。整个路径包括 trace 采集、代表 SM 选择、graph 构造、tensorization、RGCN encoder、embedding export、silhouette-K selector 和 Gate7 定量报告。需要注意的是，本次汇报重点不是宣称分类已经正确，而是说明链路是否闭合、模型结构是否真实、以及当前结果的可信边界在哪里。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GCL-Sampler 的核心不是人工给 kernel 分类，而是把 kernel trace 转成 graph，通过 graph contrastive learning 学到 kernel embedding，再用无监督方法选择代表样本。这里最重要的三个环节是：graph 要能表达控制流和数据流，RGCN 要能利用 edge type 做消息传递，selector 要基于 canonical graph 的 embedding 做聚类，而不是基于训练增强后的临时视图。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这页展示的是我们当前复现路线。Gate1 到 Gate4 解决真实 trace、scope 和 graph 输入问题；Gate5 负责训练与 embedding export；Gate6 使用 silhouette-K 和 KMeans 得到分组；Gate7 做定量可信度报告；Gate8 和 Gate9 负责最终 artifact 与汇报边界。当前 final_gate 是 gate9_report_only，说明工程链路闭合，但还没有进入 simulator baseline 的最终性能评价。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本轮输入已经不是早期的手工 fixture，而是真实 ResNet50 full trace。artifact 显示 formal_full_trace_run 为 true，共包含 265 个 kernel invocation 和 124876 条 CTA scheduler record，invocation_limit 为空，表示没有人为截断 kernel 数量。这个变化很关键，因为后续 graph、embedding 和聚类结果都来自完整输入，而不是为了 smoke test 构造的小样本。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trace 到 graph 的转换可以理解为把执行记录变成 GNN 能读的结构。instruction node 表示 SASS 指令，variable node 表示寄存器或内存数据对象，mem_ref pseudo node 补充访存语义。边不是随意连线，而是记录关系类型，例如控制流顺序、数据生产消费关系和访存语义连接。canonical graph 是不可被 augmentation 覆盖的原始图，也是 selector embedding 的来源。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Tensorization 的作用是把 canonical graph 固定成 PyTorch 可以直接消费的张量。node_features 是每个节点的 64 维输入特征，edge_index 记录每条边的起点和终点，edge_type 记录关系类型，warp_partitions 保留 node 到 warp 的层级归属。这样 RGCN 可以做 relation-aware message passing，后续 readout 也能从 node 聚合到 warp，再上升到 kernel embedding。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这一页要区分两个问题：结构是否真实，以及训练是否充分。当前实现不是空壳，因为每层 RGCN 都会根据 edge_type 使用不同 relation 参数，把邻居上下文聚合到 node embedding 中。三层之后再经过层级 readout 得到 256 维 kernel embedding。但训练只完成 minimal smoke 级别，所以它能证明模型通路有效，不能证明最终语义分类已经可靠。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Gate5 的关键边界是：训练子集和导出全集不同。当前训练只使用 4 个 graph，optimizer step 为 1，这是为了验证 contrastive training 通路能跑通；但 export 阶段对 265 个 kernel graph 都生成了 256 维 embedding table。projection head 只服务于 InfoNCE 训练，selector 使用的是 projection head 之前的 kernel embedding，这一点与 GCL 设计保持一致。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Gate6 的结果是 selected_k 等于 2，selected_score 为 0.53412531。聚类分布非常不均衡：cluster 0 有 263 个 kernel，占 99.25%；cluster 1 只有 2 个 kernel，占 0.75%。这说明 embedding space 中确实出现了可分离结构，但当前更像是在发现 outlier kernel，而不是已经形成稳定、可解释的 ResNet50 kernel family 分类。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Gate7 提供了几个定量信号：silhouette 约为 0.482，inter/intra ratio 约为 2.016，Davies-Bouldin 约为 0.790。这些指标说明 embedding 几何上存在一定分离，但 artifact 的 claim_status 明确是 quantified_no_correctness_claim，stability_status 也是 single_run_not_evaluated。因此本轮只能说有可量化信号，不能说聚类结果已经被验证为正确分类。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我们的判断是两层的。第一，工程闭环已经成立：真实 ResNet50 trace 已经完成 graph、tensor、RGCN、embedding、selector 和 Gate7 report。第二，模型可信性仍不足：训练样本太少，训练步数太少，k=2 的 263/2 分布更接近 outlier discovery，且还没有 multi-seed 稳定性验证。所以这不是失败，而是一个可运行但尚未充分训练和验证的 GCL 复现版本。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下一步重点应该从“能否跑通”转到“是否可信”。第一，扩大训练 graph 数量，跑多 epoch，并检查 loss curve。第二，做 multi-seed clustering，观察 ARI、centroid drift 和 k 的稳定性。第三，解释 cluster 1 的两个 kernel，判断它们是否真是特殊 kernel。第四，把分类结果与 kernel 名称、运行时间、算子阶段和后续调参收益关联起来，形成可支撑论文叙述的证据链。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62000" y="666750"/>
            <a:ext cx="10858500" cy="5248275"/>
            <a:chOff x="762000" y="666750"/>
            <a:chExt cx="10858500" cy="5248275"/>
          </a:xfrm>
        </p:grpSpPr>
        <p:sp>
          <p:nvSpPr>
            <p:cNvPr id="3" name="Freeform 3"/>
            <p:cNvSpPr/>
            <p:nvPr/>
          </p:nvSpPr>
          <p:spPr>
            <a:xfrm>
              <a:off x="762000" y="5905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CBD5E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5334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CBD5E1">
                  <a:alpha val="55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762000" y="4762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CBD5E1">
                  <a:alpha val="35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191500" y="666750"/>
              <a:ext cx="2952750" cy="2476500"/>
            </a:xfrm>
            <a:custGeom>
              <a:avLst/>
              <a:gdLst/>
              <a:ahLst/>
              <a:cxnLst/>
              <a:rect l="l" t="t" r="r" b="b"/>
              <a:pathLst>
                <a:path w="2952750" h="2476500">
                  <a:moveTo>
                    <a:pt x="0" y="0"/>
                  </a:moveTo>
                  <a:lnTo>
                    <a:pt x="2952750" y="0"/>
                  </a:lnTo>
                  <a:lnTo>
                    <a:pt x="295275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DBEAFE">
                <a:alpha val="45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667750" y="1047750"/>
              <a:ext cx="2952750" cy="2476500"/>
            </a:xfrm>
            <a:custGeom>
              <a:avLst/>
              <a:gdLst/>
              <a:ahLst/>
              <a:cxnLst/>
              <a:rect l="l" t="t" r="r" b="b"/>
              <a:pathLst>
                <a:path w="2952750" h="2476500">
                  <a:moveTo>
                    <a:pt x="0" y="0"/>
                  </a:moveTo>
                  <a:lnTo>
                    <a:pt x="2952750" y="0"/>
                  </a:lnTo>
                  <a:lnTo>
                    <a:pt x="295275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CCFBF1">
                <a:alpha val="35000"/>
              </a:srgbClr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96265" y="496252"/>
            <a:ext cx="3507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Group Meeting · GCL Reproduction · 2026-06-10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54355" y="1119188"/>
            <a:ext cx="8166259" cy="2128837"/>
            <a:chOff x="554355" y="1119188"/>
            <a:chExt cx="8166259" cy="2128837"/>
          </a:xfrm>
        </p:grpSpPr>
        <p:grpSp>
          <p:nvGrpSpPr>
            <p:cNvPr id="13" name="Group 13"/>
            <p:cNvGrpSpPr/>
            <p:nvPr/>
          </p:nvGrpSpPr>
          <p:grpSpPr>
            <a:xfrm>
              <a:off x="661988" y="1119188"/>
              <a:ext cx="314325" cy="314325"/>
              <a:chOff x="661988" y="1119188"/>
              <a:chExt cx="314325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1687" y="1258888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1838" y="1189038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0" y="87313"/>
                    </a:moveTo>
                    <a:cubicBezTo>
                      <a:pt x="0" y="135534"/>
                      <a:pt x="39091" y="174625"/>
                      <a:pt x="87313" y="174625"/>
                    </a:cubicBezTo>
                    <a:cubicBezTo>
                      <a:pt x="135534" y="174625"/>
                      <a:pt x="174625" y="135534"/>
                      <a:pt x="174625" y="87313"/>
                    </a:cubicBezTo>
                    <a:cubicBezTo>
                      <a:pt x="174625" y="39091"/>
                      <a:pt x="135534" y="0"/>
                      <a:pt x="87313" y="0"/>
                    </a:cubicBezTo>
                    <a:cubicBezTo>
                      <a:pt x="39091" y="0"/>
                      <a:pt x="0" y="39091"/>
                      <a:pt x="0" y="8731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61988" y="1119188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57162"/>
                    </a:moveTo>
                    <a:cubicBezTo>
                      <a:pt x="0" y="243961"/>
                      <a:pt x="70364" y="314325"/>
                      <a:pt x="157162" y="314325"/>
                    </a:cubicBezTo>
                    <a:cubicBezTo>
                      <a:pt x="243961" y="314325"/>
                      <a:pt x="314325" y="243961"/>
                      <a:pt x="314325" y="157162"/>
                    </a:cubicBezTo>
                    <a:cubicBezTo>
                      <a:pt x="314325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54355" y="1549718"/>
              <a:ext cx="5647282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复现 GCL-Sampler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7215" y="2296478"/>
              <a:ext cx="69863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4ED8"/>
                  </a:solidFill>
                  <a:latin typeface="Arial"/>
                  <a:ea typeface="Microsoft YaHei"/>
                  <a:cs typeface="Arial"/>
                </a:rPr>
                <a:t>从真实 trace 到 ResNet50 kernel 分组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9600" y="2943225"/>
              <a:ext cx="81110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目标：解释每一步复现链路、当前 GNN 结构、以及 full-trace 实验结果的可信边界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66750" y="4191000"/>
            <a:ext cx="10858500" cy="1143000"/>
            <a:chOff x="666750" y="4191000"/>
            <a:chExt cx="108585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666750" y="4191000"/>
              <a:ext cx="108585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15365" y="4495800"/>
              <a:ext cx="793433" cy="823912"/>
              <a:chOff x="1015365" y="4495800"/>
              <a:chExt cx="793433" cy="82391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162050" y="44958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339850" y="4662488"/>
                <a:ext cx="200026" cy="211137"/>
                <a:chOff x="1339850" y="4662488"/>
                <a:chExt cx="200026" cy="2111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339850" y="4662488"/>
                  <a:ext cx="1778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6675">
                      <a:moveTo>
                        <a:pt x="0" y="33338"/>
                      </a:moveTo>
                      <a:cubicBezTo>
                        <a:pt x="0" y="51751"/>
                        <a:pt x="39805" y="66675"/>
                        <a:pt x="88900" y="66675"/>
                      </a:cubicBezTo>
                      <a:cubicBezTo>
                        <a:pt x="137995" y="66675"/>
                        <a:pt x="177800" y="51751"/>
                        <a:pt x="177800" y="33338"/>
                      </a:cubicBezTo>
                      <a:cubicBezTo>
                        <a:pt x="177800" y="14924"/>
                        <a:pt x="137995" y="0"/>
                        <a:pt x="88900" y="0"/>
                      </a:cubicBezTo>
                      <a:cubicBezTo>
                        <a:pt x="39805" y="0"/>
                        <a:pt x="0" y="14924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339850" y="4695825"/>
                  <a:ext cx="123904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04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8"/>
                        <a:pt x="39805" y="100012"/>
                        <a:pt x="88900" y="100012"/>
                      </a:cubicBezTo>
                      <a:cubicBezTo>
                        <a:pt x="101324" y="100012"/>
                        <a:pt x="113159" y="99057"/>
                        <a:pt x="123904" y="97334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517650" y="4695825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339850" y="4762500"/>
                  <a:ext cx="9407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078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8"/>
                        <a:pt x="39805" y="100012"/>
                        <a:pt x="88900" y="100012"/>
                      </a:cubicBezTo>
                      <a:cubicBezTo>
                        <a:pt x="90645" y="100012"/>
                        <a:pt x="92367" y="99990"/>
                        <a:pt x="94078" y="99957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473200" y="4840288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506538" y="48069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lnTo>
                        <a:pt x="33338" y="33338"/>
                      </a:ln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015365" y="5106352"/>
                <a:ext cx="7934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Real trace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866900" y="4762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D4ED8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2590800" y="46863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787015" y="4495800"/>
              <a:ext cx="670560" cy="823912"/>
              <a:chOff x="2787015" y="4495800"/>
              <a:chExt cx="670560" cy="823912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2924175" y="4495800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3090862" y="4662488"/>
                <a:ext cx="200026" cy="211137"/>
                <a:chOff x="3090862" y="4662488"/>
                <a:chExt cx="200026" cy="211137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3124200" y="466248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190875" y="466248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168650" y="466248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124200" y="472916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090862" y="485140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213100" y="485140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3168650" y="48291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3190875" y="479583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2787015" y="510635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Graph</a:t>
                </a:r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3629025" y="4762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D4ED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4352925" y="46863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4577715" y="4495800"/>
              <a:ext cx="641985" cy="823912"/>
              <a:chOff x="4577715" y="4495800"/>
              <a:chExt cx="641985" cy="823912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4686300" y="44958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4864092" y="4673600"/>
                <a:ext cx="177808" cy="177800"/>
                <a:chOff x="4864092" y="4673600"/>
                <a:chExt cx="177808" cy="1778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908550" y="471805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22237" y="2978"/>
                      </a:moveTo>
                      <a:cubicBezTo>
                        <a:pt x="129114" y="6948"/>
                        <a:pt x="133350" y="14285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55562" y="0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864092" y="4673600"/>
                  <a:ext cx="13335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8" h="133350">
                      <a:moveTo>
                        <a:pt x="11120" y="130394"/>
                      </a:moveTo>
                      <a:cubicBezTo>
                        <a:pt x="4237" y="126420"/>
                        <a:pt x="0" y="119073"/>
                        <a:pt x="8" y="111125"/>
                      </a:cubicBezTo>
                      <a:lnTo>
                        <a:pt x="8" y="22225"/>
                      </a:lnTo>
                      <a:cubicBezTo>
                        <a:pt x="8" y="9950"/>
                        <a:pt x="9958" y="0"/>
                        <a:pt x="22233" y="0"/>
                      </a:cubicBezTo>
                      <a:lnTo>
                        <a:pt x="111133" y="0"/>
                      </a:lnTo>
                      <a:cubicBezTo>
                        <a:pt x="123407" y="0"/>
                        <a:pt x="133358" y="9950"/>
                        <a:pt x="133358" y="22225"/>
                      </a:cubicBezTo>
                      <a:lnTo>
                        <a:pt x="133358" y="111125"/>
                      </a:lnTo>
                      <a:cubicBezTo>
                        <a:pt x="133358" y="123400"/>
                        <a:pt x="123407" y="133350"/>
                        <a:pt x="111133" y="133350"/>
                      </a:cubicBezTo>
                      <a:lnTo>
                        <a:pt x="77795" y="133350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4577715" y="5106352"/>
                <a:ext cx="5327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Tensor</a:t>
                </a:r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5391150" y="4762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D4ED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6115050" y="46863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339840" y="4495800"/>
              <a:ext cx="641985" cy="823912"/>
              <a:chOff x="6339840" y="4495800"/>
              <a:chExt cx="641985" cy="823912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6448425" y="4495800"/>
                <a:ext cx="533400" cy="533400"/>
              </a:xfrm>
              <a:prstGeom prst="ellipse">
                <a:avLst/>
              </a:prstGeom>
              <a:solidFill>
                <a:srgbClr val="FFEDD5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6615112" y="4662488"/>
                <a:ext cx="200026" cy="200024"/>
                <a:chOff x="6615112" y="4662488"/>
                <a:chExt cx="200026" cy="200024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6715125" y="4773612"/>
                  <a:ext cx="77787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88900">
                      <a:moveTo>
                        <a:pt x="38894" y="0"/>
                      </a:moveTo>
                      <a:cubicBezTo>
                        <a:pt x="17413" y="0"/>
                        <a:pt x="0" y="17413"/>
                        <a:pt x="0" y="38894"/>
                      </a:cubicBezTo>
                      <a:lnTo>
                        <a:pt x="0" y="50006"/>
                      </a:lnTo>
                      <a:cubicBezTo>
                        <a:pt x="0" y="71487"/>
                        <a:pt x="17413" y="88900"/>
                        <a:pt x="38894" y="88900"/>
                      </a:cubicBezTo>
                      <a:cubicBezTo>
                        <a:pt x="60374" y="88900"/>
                        <a:pt x="77787" y="71487"/>
                        <a:pt x="77787" y="50006"/>
                      </a:cubicBezTo>
                      <a:lnTo>
                        <a:pt x="77787" y="30004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637338" y="4773612"/>
                  <a:ext cx="77787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88900">
                      <a:moveTo>
                        <a:pt x="38894" y="0"/>
                      </a:moveTo>
                      <a:cubicBezTo>
                        <a:pt x="60374" y="0"/>
                        <a:pt x="77787" y="17413"/>
                        <a:pt x="77787" y="38894"/>
                      </a:cubicBezTo>
                      <a:lnTo>
                        <a:pt x="77787" y="50006"/>
                      </a:lnTo>
                      <a:cubicBezTo>
                        <a:pt x="77787" y="71487"/>
                        <a:pt x="60374" y="88900"/>
                        <a:pt x="38894" y="88900"/>
                      </a:cubicBezTo>
                      <a:cubicBezTo>
                        <a:pt x="17413" y="88900"/>
                        <a:pt x="0" y="71487"/>
                        <a:pt x="0" y="50006"/>
                      </a:cubicBezTo>
                      <a:lnTo>
                        <a:pt x="0" y="30004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770688" y="4729162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5556" y="77788"/>
                      </a:moveTo>
                      <a:cubicBezTo>
                        <a:pt x="27037" y="77788"/>
                        <a:pt x="44450" y="60374"/>
                        <a:pt x="44450" y="38894"/>
                      </a:cubicBezTo>
                      <a:cubicBezTo>
                        <a:pt x="44450" y="17413"/>
                        <a:pt x="27037" y="0"/>
                        <a:pt x="555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715125" y="4662488"/>
                  <a:ext cx="77787" cy="70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70009">
                      <a:moveTo>
                        <a:pt x="77787" y="70009"/>
                      </a:moveTo>
                      <a:lnTo>
                        <a:pt x="77787" y="38894"/>
                      </a:lnTo>
                      <a:cubicBezTo>
                        <a:pt x="77787" y="17413"/>
                        <a:pt x="60374" y="0"/>
                        <a:pt x="38894" y="0"/>
                      </a:cubicBezTo>
                      <a:cubicBezTo>
                        <a:pt x="17413" y="0"/>
                        <a:pt x="0" y="17413"/>
                        <a:pt x="0" y="38894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615112" y="4729162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38894" y="77788"/>
                      </a:move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637338" y="4662488"/>
                  <a:ext cx="77787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150019">
                      <a:moveTo>
                        <a:pt x="0" y="70009"/>
                      </a:moveTo>
                      <a:lnTo>
                        <a:pt x="0" y="38894"/>
                      </a:lnTo>
                      <a:cubicBezTo>
                        <a:pt x="0" y="17413"/>
                        <a:pt x="17413" y="0"/>
                        <a:pt x="38894" y="0"/>
                      </a:cubicBezTo>
                      <a:cubicBezTo>
                        <a:pt x="60374" y="0"/>
                        <a:pt x="77787" y="17413"/>
                        <a:pt x="77787" y="38894"/>
                      </a:cubicBezTo>
                      <a:lnTo>
                        <a:pt x="77787" y="150019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339840" y="5106352"/>
                <a:ext cx="3640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RGCN</a:t>
                </a:r>
              </a:p>
            </p:txBody>
          </p:sp>
        </p:grpSp>
        <p:sp>
          <p:nvSpPr>
            <p:cNvPr id="63" name="Freeform 63"/>
            <p:cNvSpPr/>
            <p:nvPr/>
          </p:nvSpPr>
          <p:spPr>
            <a:xfrm>
              <a:off x="7153275" y="4762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D4ED8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7877175" y="46863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8044815" y="4495800"/>
              <a:ext cx="778097" cy="823912"/>
              <a:chOff x="8044815" y="4495800"/>
              <a:chExt cx="778097" cy="823912"/>
            </a:xfrm>
          </p:grpSpPr>
          <p:sp>
            <p:nvSpPr>
              <p:cNvPr id="65" name="Ellipse 65"/>
              <p:cNvSpPr/>
              <p:nvPr/>
            </p:nvSpPr>
            <p:spPr>
              <a:xfrm>
                <a:off x="8210550" y="4495800"/>
                <a:ext cx="533400" cy="5334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8377238" y="4662488"/>
                <a:ext cx="209549" cy="200025"/>
                <a:chOff x="8377238" y="4662488"/>
                <a:chExt cx="209549" cy="20002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8377238" y="466248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421688" y="46624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0" y="44450"/>
                      </a:lnTo>
                      <a:lnTo>
                        <a:pt x="44450" y="444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443912" y="4818062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532812" y="4784725"/>
                  <a:ext cx="9525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7788">
                      <a:moveTo>
                        <a:pt x="0" y="0"/>
                      </a:moveTo>
                      <a:lnTo>
                        <a:pt x="0" y="777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488362" y="4773612"/>
                  <a:ext cx="95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8900">
                      <a:moveTo>
                        <a:pt x="0" y="0"/>
                      </a:moveTo>
                      <a:lnTo>
                        <a:pt x="0" y="889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577262" y="4762500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8044815" y="5106352"/>
                <a:ext cx="7780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Embedding</a:t>
                </a:r>
              </a:p>
            </p:txBody>
          </p:sp>
        </p:grpSp>
        <p:sp>
          <p:nvSpPr>
            <p:cNvPr id="75" name="Freeform 75"/>
            <p:cNvSpPr/>
            <p:nvPr/>
          </p:nvSpPr>
          <p:spPr>
            <a:xfrm>
              <a:off x="8915400" y="4762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D4ED8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9639300" y="46863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9873615" y="4495800"/>
              <a:ext cx="632460" cy="823912"/>
              <a:chOff x="9873615" y="4495800"/>
              <a:chExt cx="632460" cy="823912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9972675" y="4495800"/>
                <a:ext cx="533400" cy="533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139362" y="4673600"/>
                <a:ext cx="2000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77800">
                    <a:moveTo>
                      <a:pt x="0" y="88900"/>
                    </a:moveTo>
                    <a:lnTo>
                      <a:pt x="44450" y="88900"/>
                    </a:lnTo>
                    <a:lnTo>
                      <a:pt x="77788" y="177800"/>
                    </a:lnTo>
                    <a:lnTo>
                      <a:pt x="122237" y="0"/>
                    </a:lnTo>
                    <a:lnTo>
                      <a:pt x="155575" y="88900"/>
                    </a:lnTo>
                    <a:lnTo>
                      <a:pt x="200025" y="889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873615" y="5106352"/>
                <a:ext cx="578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Cluster</a:t>
                </a:r>
              </a:p>
            </p:txBody>
          </p:sp>
        </p:grpSp>
      </p:grpSp>
      <p:grpSp>
        <p:nvGrpSpPr>
          <p:cNvPr id="84" name="Group 84"/>
          <p:cNvGrpSpPr/>
          <p:nvPr/>
        </p:nvGrpSpPr>
        <p:grpSpPr>
          <a:xfrm>
            <a:off x="598170" y="6379845"/>
            <a:ext cx="11027378" cy="182880"/>
            <a:chOff x="598170" y="6379845"/>
            <a:chExt cx="11027378" cy="182880"/>
          </a:xfrm>
        </p:grpSpPr>
        <p:sp>
          <p:nvSpPr>
            <p:cNvPr id="82" name="TextBox 82"/>
            <p:cNvSpPr txBox="1"/>
            <p:nvPr/>
          </p:nvSpPr>
          <p:spPr>
            <a:xfrm>
              <a:off x="598170" y="6379845"/>
              <a:ext cx="4169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artifact root: artifacts/gcl_resnet50_full_trace_reproduction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28070" y="63798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01 · 复现对象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3584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我们到底要复现什么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103658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GCL-Sampler 的关键不是给 kernel 贴人工标签，而是学习 kernel graph 的表示，再用无监督 selector 找代表样本。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66750" y="2095500"/>
            <a:ext cx="10858500" cy="2762250"/>
            <a:chOff x="666750" y="2095500"/>
            <a:chExt cx="10858500" cy="2762250"/>
          </a:xfrm>
        </p:grpSpPr>
        <p:sp>
          <p:nvSpPr>
            <p:cNvPr id="8" name="Rectangle 8"/>
            <p:cNvSpPr/>
            <p:nvPr/>
          </p:nvSpPr>
          <p:spPr>
            <a:xfrm>
              <a:off x="666750" y="2095500"/>
              <a:ext cx="3143250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54881" y="2383631"/>
              <a:ext cx="242887" cy="256382"/>
              <a:chOff x="954881" y="2383631"/>
              <a:chExt cx="242887" cy="2563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95362" y="23836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23836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9338" y="2383631"/>
                <a:ext cx="26987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161925">
                    <a:moveTo>
                      <a:pt x="26987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7" y="1619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5362" y="24645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4881" y="26130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03312" y="26130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49338" y="25860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76325" y="25455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91540" y="2834640"/>
              <a:ext cx="14810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Graph View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7255" y="3283268"/>
              <a:ext cx="2469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trace 表示成节点和边：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0608" y="3653314"/>
              <a:ext cx="15314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instruction node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0608" y="3958114"/>
              <a:ext cx="12241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variable node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0608" y="4262914"/>
              <a:ext cx="19596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mem_ref pseudo node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3686175"/>
              <a:ext cx="76200" cy="762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6300" y="3990975"/>
              <a:ext cx="76200" cy="762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6300" y="4295775"/>
              <a:ext cx="76200" cy="762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2095500"/>
              <a:ext cx="3143250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812506" y="2383631"/>
              <a:ext cx="242888" cy="242888"/>
              <a:chOff x="4812506" y="2383631"/>
              <a:chExt cx="242888" cy="2428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933950" y="25185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39494" y="25185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01419" y="24645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33950" y="23836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812506" y="24645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839494" y="23836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749165" y="2834640"/>
              <a:ext cx="2336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Contrastive RGCN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4880" y="32832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同一个 kernel 的两种增强视图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4880" y="35880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构成 positive pair。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5832" y="4034314"/>
              <a:ext cx="23135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InfoNCE + projection head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55832" y="4415314"/>
              <a:ext cx="26579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训练 encoder 学 kernel 表示。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0" y="2095500"/>
              <a:ext cx="3143250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670131" y="2383631"/>
              <a:ext cx="252413" cy="242888"/>
              <a:chOff x="8670131" y="2383631"/>
              <a:chExt cx="252413" cy="24288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670131" y="23836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24106" y="2383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0" y="53975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51094" y="257254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859044" y="2532062"/>
                <a:ext cx="952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4456">
                    <a:moveTo>
                      <a:pt x="0" y="0"/>
                    </a:moveTo>
                    <a:lnTo>
                      <a:pt x="0" y="94456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805069" y="2518569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913019" y="250507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606790" y="2834640"/>
              <a:ext cx="11912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Selector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2505" y="3283268"/>
              <a:ext cx="22228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使用 canonical graph 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12505" y="3588068"/>
              <a:ext cx="23510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256d kernel embedding。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13458" y="4034314"/>
              <a:ext cx="20341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silhouette-K + KMeans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13458" y="4415314"/>
              <a:ext cx="26021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输出 cluster 与代表 anchor。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750" y="5334000"/>
            <a:ext cx="10858500" cy="692944"/>
            <a:chOff x="666750" y="5334000"/>
            <a:chExt cx="10858500" cy="692944"/>
          </a:xfrm>
        </p:grpSpPr>
        <p:sp>
          <p:nvSpPr>
            <p:cNvPr id="53" name="Rectangle 53"/>
            <p:cNvSpPr/>
            <p:nvPr/>
          </p:nvSpPr>
          <p:spPr>
            <a:xfrm>
              <a:off x="666750" y="5334000"/>
              <a:ext cx="10858500" cy="666750"/>
            </a:xfrm>
            <a:prstGeom prst="roundRect">
              <a:avLst>
                <a:gd name="adj" fmla="val 11429"/>
              </a:avLst>
            </a:prstGeom>
            <a:solidFill>
              <a:srgbClr val="FFEDD5"/>
            </a:solidFill>
            <a:ln w="9525">
              <a:solidFill>
                <a:srgbClr val="F97316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916629" y="5544621"/>
              <a:ext cx="224133" cy="192560"/>
              <a:chOff x="916629" y="5544621"/>
              <a:chExt cx="224133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028700" y="56149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16629" y="5544621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28700" y="5692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297305" y="55121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98258" y="5767864"/>
              <a:ext cx="95106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GCL selector 不是监督分类头；它发现 embedding space 中的结构，是否对应真实 kernel family 需要额外验证。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21970" y="6436995"/>
              <a:ext cx="45248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GCL reproduction specs and current implementation artifacts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606070" cy="1161098"/>
            <a:chOff x="501015" y="401002"/>
            <a:chExt cx="11606070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02 · 复现路线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59891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Gate1 到 Gate9 已形成端到端链路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11381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 full-trace run 到达 final_gate = gate9_report_only，说明复现链路已闭合，但 simulator baseline 尚未进入最终评价。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6268" y="2705100"/>
            <a:ext cx="11227844" cy="1331119"/>
            <a:chOff x="616268" y="2705100"/>
            <a:chExt cx="11227844" cy="1331119"/>
          </a:xfrm>
        </p:grpSpPr>
        <p:sp>
          <p:nvSpPr>
            <p:cNvPr id="8" name="Freeform 8"/>
            <p:cNvSpPr/>
            <p:nvPr/>
          </p:nvSpPr>
          <p:spPr>
            <a:xfrm>
              <a:off x="1143000" y="30289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CBD5E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43000" y="3028950"/>
              <a:ext cx="8667750" cy="9525"/>
            </a:xfrm>
            <a:custGeom>
              <a:avLst/>
              <a:gdLst/>
              <a:ahLst/>
              <a:cxnLst/>
              <a:rect l="l" t="t" r="r" b="b"/>
              <a:pathLst>
                <a:path w="8667750" h="9525">
                  <a:moveTo>
                    <a:pt x="0" y="0"/>
                  </a:moveTo>
                  <a:lnTo>
                    <a:pt x="8667750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16A34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16268" y="2705100"/>
              <a:ext cx="1369468" cy="1331119"/>
              <a:chOff x="616268" y="2705100"/>
              <a:chExt cx="1369468" cy="1331119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81915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44880" y="2949892"/>
                <a:ext cx="2102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6762" y="357425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Trace Adapter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16268" y="3838099"/>
                <a:ext cx="12137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real trace bundle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797368" y="2705100"/>
              <a:ext cx="1313474" cy="1331119"/>
              <a:chOff x="1797368" y="2705100"/>
              <a:chExt cx="1313474" cy="133111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205740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18313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57388" y="3574256"/>
                <a:ext cx="102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Trace Scope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7368" y="3838099"/>
                <a:ext cx="13134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representative SM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121342" y="2705100"/>
              <a:ext cx="1092756" cy="1331119"/>
              <a:chOff x="3121342" y="2705100"/>
              <a:chExt cx="1092756" cy="133111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29565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42138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195638" y="3574256"/>
                <a:ext cx="9429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Graph Build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121342" y="3838099"/>
                <a:ext cx="10927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canonical graph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321492" y="2705100"/>
              <a:ext cx="980396" cy="1331119"/>
              <a:chOff x="4321492" y="2705100"/>
              <a:chExt cx="980396" cy="1331119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53390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65963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462462" y="3574256"/>
                <a:ext cx="8394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Tensorize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21492" y="3838099"/>
                <a:ext cx="8506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GNN tensors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97842" y="2705100"/>
              <a:ext cx="1084446" cy="1331119"/>
              <a:chOff x="5597842" y="2705100"/>
              <a:chExt cx="1084446" cy="1331119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577215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89788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653088" y="3574256"/>
                <a:ext cx="102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RGCN Export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597842" y="3838099"/>
                <a:ext cx="10785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256d embedding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778942" y="2705100"/>
              <a:ext cx="914085" cy="1331119"/>
              <a:chOff x="6778942" y="2705100"/>
              <a:chExt cx="914085" cy="1331119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701040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13613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G6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48488" y="3574256"/>
                <a:ext cx="7445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Selector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78942" y="3838099"/>
                <a:ext cx="893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silhouette-K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083868" y="2705100"/>
              <a:ext cx="1249394" cy="1331119"/>
              <a:chOff x="8083868" y="2705100"/>
              <a:chExt cx="1249394" cy="1331119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824865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7438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G7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58162" y="3574256"/>
                <a:ext cx="10723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Correctness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083868" y="3838099"/>
                <a:ext cx="12493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quantified report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293542" y="2705100"/>
              <a:ext cx="850678" cy="1331119"/>
              <a:chOff x="9293542" y="2705100"/>
              <a:chExt cx="850678" cy="1331119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948690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6A34A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61263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G8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434512" y="3574256"/>
                <a:ext cx="5547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Tuning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293542" y="3838099"/>
                <a:ext cx="8506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report-only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625138" y="2705100"/>
              <a:ext cx="1218974" cy="1331119"/>
              <a:chOff x="10625138" y="2705100"/>
              <a:chExt cx="1218974" cy="1331119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10725150" y="270510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F97316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850880" y="2949892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97316"/>
                    </a:solidFill>
                    <a:latin typeface="Consolas"/>
                    <a:ea typeface="Microsoft YaHei"/>
                    <a:cs typeface="Consolas"/>
                  </a:rPr>
                  <a:t>G9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625138" y="357425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Simulator Eval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674668" y="3838099"/>
                <a:ext cx="10927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baseline absent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876300" y="4762500"/>
            <a:ext cx="10439400" cy="838200"/>
            <a:chOff x="876300" y="4762500"/>
            <a:chExt cx="10439400" cy="838200"/>
          </a:xfrm>
        </p:grpSpPr>
        <p:sp>
          <p:nvSpPr>
            <p:cNvPr id="56" name="Rectangle 56"/>
            <p:cNvSpPr/>
            <p:nvPr/>
          </p:nvSpPr>
          <p:spPr>
            <a:xfrm>
              <a:off x="876300" y="4762500"/>
              <a:ext cx="49530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138238" y="5043488"/>
              <a:ext cx="200025" cy="200025"/>
              <a:chOff x="1138238" y="5043488"/>
              <a:chExt cx="200025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1138238" y="50434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204912" y="51212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487805" y="50263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已闭合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90662" y="532685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final_gate = gate9_report_only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362700" y="4762500"/>
              <a:ext cx="49530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12579" y="5039796"/>
              <a:ext cx="224133" cy="192560"/>
              <a:chOff x="6612579" y="5039796"/>
              <a:chExt cx="224133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724650" y="51101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612579" y="50397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24650" y="5187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4205" y="50263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仍是报告态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77062" y="5326856"/>
              <a:ext cx="39965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没有 simulator baseline，因此不宣称调参效果正确。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521970" y="6436995"/>
              <a:ext cx="3755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resnet50_full_trace_reproduction_manifest.json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03 · 输入数据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84918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Gate1 输入已经切换为真实 ResNet50 full trace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7763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本轮结果来自 real NVBit trace root；不是手工构造 fixture，也不是 bounded slice。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6750" y="1952625"/>
            <a:ext cx="11045571" cy="1428750"/>
            <a:chOff x="666750" y="1952625"/>
            <a:chExt cx="11045571" cy="1428750"/>
          </a:xfrm>
        </p:grpSpPr>
        <p:sp>
          <p:nvSpPr>
            <p:cNvPr id="8" name="Rectangle 8"/>
            <p:cNvSpPr/>
            <p:nvPr/>
          </p:nvSpPr>
          <p:spPr>
            <a:xfrm>
              <a:off x="666750" y="1952625"/>
              <a:ext cx="24765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31069" y="2207419"/>
              <a:ext cx="214312" cy="214312"/>
              <a:chOff x="931069" y="2207419"/>
              <a:chExt cx="214312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54881" y="223123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154781" y="0"/>
                    </a:lnTo>
                    <a:cubicBezTo>
                      <a:pt x="161357" y="0"/>
                      <a:pt x="166688" y="5331"/>
                      <a:pt x="166688" y="11906"/>
                    </a:cubicBezTo>
                    <a:lnTo>
                      <a:pt x="166688" y="154781"/>
                    </a:lnTo>
                    <a:cubicBezTo>
                      <a:pt x="166688" y="161357"/>
                      <a:pt x="161357" y="166688"/>
                      <a:pt x="154781" y="166688"/>
                    </a:cubicBezTo>
                    <a:lnTo>
                      <a:pt x="11906" y="166688"/>
                    </a:lnTo>
                    <a:cubicBezTo>
                      <a:pt x="5331" y="166688"/>
                      <a:pt x="0" y="161357"/>
                      <a:pt x="0" y="15478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2506" y="22788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0"/>
                    </a:lnTo>
                    <a:lnTo>
                      <a:pt x="71438" y="71438"/>
                    </a:lnTo>
                    <a:lnTo>
                      <a:pt x="0" y="714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1069" y="229076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1069" y="23383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4412" y="22074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2038" y="22074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21569" y="229076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21569" y="23383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62038" y="23979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4412" y="23979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53440" y="2358390"/>
              <a:ext cx="9188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0110" y="2956560"/>
              <a:ext cx="15902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kernel invocations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29000" y="1952625"/>
              <a:ext cx="24765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705225" y="2207419"/>
              <a:ext cx="214313" cy="226219"/>
              <a:chOff x="3705225" y="2207419"/>
              <a:chExt cx="214313" cy="22621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705225" y="22074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7"/>
                      <a:pt x="42648" y="71438"/>
                      <a:pt x="95250" y="71438"/>
                    </a:cubicBezTo>
                    <a:cubicBezTo>
                      <a:pt x="147852" y="71438"/>
                      <a:pt x="190500" y="55447"/>
                      <a:pt x="190500" y="35719"/>
                    </a:cubicBezTo>
                    <a:cubicBezTo>
                      <a:pt x="190500" y="15990"/>
                      <a:pt x="147852" y="0"/>
                      <a:pt x="95250" y="0"/>
                    </a:cubicBezTo>
                    <a:cubicBezTo>
                      <a:pt x="42648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05225" y="2243138"/>
                <a:ext cx="13275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32755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6"/>
                      <a:pt x="42648" y="107156"/>
                      <a:pt x="95250" y="107156"/>
                    </a:cubicBezTo>
                    <a:cubicBezTo>
                      <a:pt x="108561" y="107156"/>
                      <a:pt x="121241" y="106132"/>
                      <a:pt x="132755" y="104287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95725" y="2243138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705225" y="2314575"/>
                <a:ext cx="10079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0798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6"/>
                      <a:pt x="42648" y="107156"/>
                      <a:pt x="95250" y="107156"/>
                    </a:cubicBezTo>
                    <a:cubicBezTo>
                      <a:pt x="97119" y="107156"/>
                      <a:pt x="98965" y="107132"/>
                      <a:pt x="100798" y="107097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48100" y="2397919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883819" y="2362200"/>
                <a:ext cx="3571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71438">
                    <a:moveTo>
                      <a:pt x="0" y="0"/>
                    </a:moveTo>
                    <a:lnTo>
                      <a:pt x="35719" y="35719"/>
                    </a:ln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615690" y="2358390"/>
              <a:ext cx="162731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124876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42360" y="2956560"/>
              <a:ext cx="19232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CTA scheduler records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1952625"/>
              <a:ext cx="24765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5569" y="2207419"/>
              <a:ext cx="214312" cy="214312"/>
              <a:chOff x="6455569" y="2207419"/>
              <a:chExt cx="214312" cy="2143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5569" y="23741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22256" y="22074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38912" y="2231231"/>
                <a:ext cx="476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66688">
                    <a:moveTo>
                      <a:pt x="47625" y="0"/>
                    </a:moveTo>
                    <a:cubicBezTo>
                      <a:pt x="34474" y="0"/>
                      <a:pt x="23812" y="10661"/>
                      <a:pt x="23812" y="23812"/>
                    </a:cubicBezTo>
                    <a:lnTo>
                      <a:pt x="23812" y="142875"/>
                    </a:lnTo>
                    <a:cubicBezTo>
                      <a:pt x="23812" y="156026"/>
                      <a:pt x="13151" y="166688"/>
                      <a:pt x="0" y="166688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87465" y="2439352"/>
              <a:ext cx="72955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full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4610" y="295656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invocation_limit = None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53500" y="1952625"/>
              <a:ext cx="24765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217819" y="2207419"/>
              <a:ext cx="214312" cy="214312"/>
              <a:chOff x="9217819" y="2207419"/>
              <a:chExt cx="214312" cy="21431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217819" y="22074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289256" y="22907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149715" y="2439352"/>
              <a:ext cx="133567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formal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66860" y="2956560"/>
              <a:ext cx="254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formal_full_trace_run = true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76300" y="4048125"/>
            <a:ext cx="10439400" cy="1428750"/>
            <a:chOff x="876300" y="4048125"/>
            <a:chExt cx="10439400" cy="1428750"/>
          </a:xfrm>
        </p:grpSpPr>
        <p:sp>
          <p:nvSpPr>
            <p:cNvPr id="46" name="Rectangle 46"/>
            <p:cNvSpPr/>
            <p:nvPr/>
          </p:nvSpPr>
          <p:spPr>
            <a:xfrm>
              <a:off x="876300" y="4048125"/>
              <a:ext cx="104394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2045" y="4251008"/>
              <a:ext cx="15094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Trace scope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43000" y="4743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57312" y="488870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dynamic_trace.pb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3257550" y="49530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D4ED8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4057650" y="48768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86250" y="4743450"/>
              <a:ext cx="2476500" cy="419100"/>
            </a:xfrm>
            <a:prstGeom prst="roundRect">
              <a:avLst>
                <a:gd name="adj" fmla="val 18182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00562" y="4888706"/>
              <a:ext cx="2057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scheduler_metadata.json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877050" y="49530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D4ED8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7677150" y="48768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05750" y="4743450"/>
              <a:ext cx="3000375" cy="419100"/>
            </a:xfrm>
            <a:prstGeom prst="roundRect">
              <a:avLst>
                <a:gd name="adj" fmla="val 18182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20062" y="488870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single_representative_sm_all_ctas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8712" y="5231606"/>
              <a:ext cx="83835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每个 kernel invocation 选择 representative SM，并纳入该 SM 上所有可见 CTA，再进入 graph construction。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21970" y="6436995"/>
              <a:ext cx="64965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resnet50_full_trace_reproduction_manifest.json; representative_sm_trace_manifest.json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783520" cy="1161098"/>
            <a:chOff x="501015" y="401002"/>
            <a:chExt cx="11783520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04 · Graph Construction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900023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Trace 被转换为一个带关系类型的 canonical graph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11558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一个 kernel graph 同时包含 instruction、variable 和 mem_ref pseudo node；RGCN 通过 edge_type 区分控制流和数据流语义。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2000250"/>
            <a:ext cx="6395085" cy="3429000"/>
            <a:chOff x="666750" y="2000250"/>
            <a:chExt cx="6395085" cy="3429000"/>
          </a:xfrm>
        </p:grpSpPr>
        <p:sp>
          <p:nvSpPr>
            <p:cNvPr id="8" name="Rectangle 8"/>
            <p:cNvSpPr/>
            <p:nvPr/>
          </p:nvSpPr>
          <p:spPr>
            <a:xfrm>
              <a:off x="666750" y="2000250"/>
              <a:ext cx="40005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2203132"/>
              <a:ext cx="24077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Warp trace snippet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14400" y="2762250"/>
              <a:ext cx="3333750" cy="2152650"/>
              <a:chOff x="914400" y="2762250"/>
              <a:chExt cx="3333750" cy="21526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2762250"/>
                <a:ext cx="333375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08710" y="2908935"/>
                <a:ext cx="20021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I0: MOV R4, input:base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914400" y="3333750"/>
                <a:ext cx="333375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08710" y="3480435"/>
                <a:ext cx="15464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I1: LDG.E R8, [R4]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914400" y="3905250"/>
                <a:ext cx="333375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08710" y="4051935"/>
                <a:ext cx="17918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I2: FADD R9, R8, bias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914400" y="4476750"/>
                <a:ext cx="3333750" cy="438150"/>
              </a:xfrm>
              <a:prstGeom prst="roundRect">
                <a:avLst>
                  <a:gd name="adj" fmla="val 17391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08710" y="4623435"/>
                <a:ext cx="15902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I3: STG.E [R4], R9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901065" y="5087302"/>
              <a:ext cx="6160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输入不是文本序列，而是带 PC、opcode、operand、warp、CTA scope 的结构化 trace。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19700" y="2000250"/>
            <a:ext cx="6305550" cy="3429000"/>
            <a:chOff x="5219700" y="2000250"/>
            <a:chExt cx="6305550" cy="3429000"/>
          </a:xfrm>
        </p:grpSpPr>
        <p:sp>
          <p:nvSpPr>
            <p:cNvPr id="21" name="Rectangle 21"/>
            <p:cNvSpPr/>
            <p:nvPr/>
          </p:nvSpPr>
          <p:spPr>
            <a:xfrm>
              <a:off x="5219700" y="2000250"/>
              <a:ext cx="630555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46395" y="2203132"/>
              <a:ext cx="25595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Canonical graph view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286500" y="2343150"/>
              <a:ext cx="4010025" cy="1828800"/>
              <a:chOff x="6286500" y="2343150"/>
              <a:chExt cx="4010025" cy="1828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86500" y="314325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1238250" y="0"/>
                    </a:lnTo>
                    <a:lnTo>
                      <a:pt x="2476500" y="0"/>
                    </a:lnTo>
                    <a:lnTo>
                      <a:pt x="3714750" y="0"/>
                    </a:lnTo>
                  </a:path>
                </a:pathLst>
              </a:custGeom>
              <a:noFill/>
              <a:ln w="28575">
                <a:solidFill>
                  <a:srgbClr val="1D4ED8"/>
                </a:solidFill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7410450" y="30670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14300" y="76200"/>
                    </a:moveTo>
                    <a:lnTo>
                      <a:pt x="0" y="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Polygon 25"/>
              <p:cNvSpPr/>
              <p:nvPr/>
            </p:nvSpPr>
            <p:spPr>
              <a:xfrm>
                <a:off x="8648700" y="30670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14300" y="76200"/>
                    </a:moveTo>
                    <a:lnTo>
                      <a:pt x="0" y="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6" name="Polygon 26"/>
              <p:cNvSpPr/>
              <p:nvPr/>
            </p:nvSpPr>
            <p:spPr>
              <a:xfrm>
                <a:off x="9886950" y="30670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114300" y="76200"/>
                    </a:moveTo>
                    <a:lnTo>
                      <a:pt x="0" y="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81800" y="3429000"/>
                <a:ext cx="10287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742950">
                    <a:moveTo>
                      <a:pt x="0" y="742950"/>
                    </a:moveTo>
                    <a:lnTo>
                      <a:pt x="102870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10500" y="3429000"/>
                <a:ext cx="2857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742950">
                    <a:moveTo>
                      <a:pt x="285750" y="74295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96250" y="3429000"/>
                <a:ext cx="9525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742950">
                    <a:moveTo>
                      <a:pt x="0" y="742950"/>
                    </a:moveTo>
                    <a:lnTo>
                      <a:pt x="95250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48750" y="3429000"/>
                <a:ext cx="3048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742950">
                    <a:moveTo>
                      <a:pt x="304800" y="74295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81800" y="3429000"/>
                <a:ext cx="35052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742950">
                    <a:moveTo>
                      <a:pt x="0" y="742950"/>
                    </a:moveTo>
                    <a:lnTo>
                      <a:pt x="350520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353550" y="3429000"/>
                <a:ext cx="9334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742950">
                    <a:moveTo>
                      <a:pt x="0" y="742950"/>
                    </a:moveTo>
                    <a:lnTo>
                      <a:pt x="93345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10500" y="2343150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41910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28575">
                <a:solidFill>
                  <a:srgbClr val="F9731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287000" y="2343150"/>
                <a:ext cx="9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">
                    <a:moveTo>
                      <a:pt x="0" y="41910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28575">
                <a:solidFill>
                  <a:srgbClr val="F97316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6000750" y="2857500"/>
              <a:ext cx="4572000" cy="571500"/>
              <a:chOff x="6000750" y="2857500"/>
              <a:chExt cx="4572000" cy="5715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6000750" y="2857500"/>
                <a:ext cx="571500" cy="5715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118860" y="3080385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I0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524750" y="2857500"/>
                <a:ext cx="571500" cy="5715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42860" y="3080385"/>
                <a:ext cx="140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I1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8763000" y="2857500"/>
                <a:ext cx="571500" cy="5715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881110" y="3080385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I2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10001250" y="2857500"/>
                <a:ext cx="571500" cy="571500"/>
              </a:xfrm>
              <a:prstGeom prst="ellipse">
                <a:avLst/>
              </a:prstGeom>
              <a:solidFill>
                <a:srgbClr val="DBEAFE"/>
              </a:solidFill>
              <a:ln w="19050">
                <a:solidFill>
                  <a:srgbClr val="1D4ED8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19360" y="3080385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I3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3981450"/>
              <a:ext cx="3143250" cy="381000"/>
              <a:chOff x="6496050" y="3981450"/>
              <a:chExt cx="314325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3981450"/>
                <a:ext cx="571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15112" y="4098131"/>
                <a:ext cx="209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R4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7810500" y="3981450"/>
                <a:ext cx="571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929562" y="4098131"/>
                <a:ext cx="209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R8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9067800" y="3981450"/>
                <a:ext cx="571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186862" y="4098131"/>
                <a:ext cx="209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R9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429500" y="2114550"/>
              <a:ext cx="3274933" cy="342900"/>
              <a:chOff x="7429500" y="2114550"/>
              <a:chExt cx="3274933" cy="3429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7429500" y="2114550"/>
                <a:ext cx="762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FFEDD5"/>
              </a:solidFill>
              <a:ln w="9525">
                <a:solidFill>
                  <a:srgbClr val="F9731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549515" y="2229802"/>
                <a:ext cx="6784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97316"/>
                    </a:solidFill>
                    <a:latin typeface="Consolas"/>
                    <a:ea typeface="Microsoft YaHei"/>
                    <a:cs typeface="Consolas"/>
                  </a:rPr>
                  <a:t>mem_ref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906000" y="2114550"/>
                <a:ext cx="762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FFEDD5"/>
              </a:solidFill>
              <a:ln w="9525">
                <a:solidFill>
                  <a:srgbClr val="F97316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026015" y="2229802"/>
                <a:ext cx="6784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97316"/>
                    </a:solidFill>
                    <a:latin typeface="Consolas"/>
                    <a:ea typeface="Microsoft YaHei"/>
                    <a:cs typeface="Consolas"/>
                  </a:rPr>
                  <a:t>mem_ref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5619750" y="4820602"/>
              <a:ext cx="5728287" cy="213360"/>
              <a:chOff x="5619750" y="4820602"/>
              <a:chExt cx="5728287" cy="213360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5619750" y="4876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1D4ED8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101715" y="48206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control_flow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239000" y="4876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0F766E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720965" y="4820602"/>
                <a:ext cx="24036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data_source / data_destination</a:t>
                </a:r>
              </a:p>
            </p:txBody>
          </p:sp>
          <p:sp>
            <p:nvSpPr>
              <p:cNvPr id="61" name="Line 61"/>
              <p:cNvSpPr/>
              <p:nvPr/>
            </p:nvSpPr>
            <p:spPr>
              <a:xfrm>
                <a:off x="9620250" y="4876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F97316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102215" y="4820602"/>
                <a:ext cx="1245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pseudo semantic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65" name="TextBox 65"/>
            <p:cNvSpPr txBox="1"/>
            <p:nvPr/>
          </p:nvSpPr>
          <p:spPr>
            <a:xfrm>
              <a:off x="521970" y="6436995"/>
              <a:ext cx="5951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graph_builder.py; relation schema = control_flow / data_source / data_destination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05 · Tensorization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722096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Graph 进入 GNN 前被固定为四类张量输入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102968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Tensorization 的目标是让 graph artifact 可被 PyTorch RGCN 直接消费，同时保留 warp/CTA 层级用于 readout。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42950" y="2095500"/>
            <a:ext cx="5353050" cy="2381250"/>
            <a:chOff x="742950" y="2095500"/>
            <a:chExt cx="5353050" cy="2381250"/>
          </a:xfrm>
        </p:grpSpPr>
        <p:sp>
          <p:nvSpPr>
            <p:cNvPr id="8" name="Rectangle 8"/>
            <p:cNvSpPr/>
            <p:nvPr/>
          </p:nvSpPr>
          <p:spPr>
            <a:xfrm>
              <a:off x="742950" y="2095500"/>
              <a:ext cx="2476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15992" y="2368550"/>
              <a:ext cx="177808" cy="177800"/>
              <a:chOff x="1015992" y="2368550"/>
              <a:chExt cx="177808" cy="177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60450" y="24130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22238" y="2978"/>
                    </a:moveTo>
                    <a:cubicBezTo>
                      <a:pt x="129114" y="6948"/>
                      <a:pt x="133350" y="14285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55563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15992" y="2368550"/>
                <a:ext cx="13335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8" h="133350">
                    <a:moveTo>
                      <a:pt x="11120" y="130394"/>
                    </a:moveTo>
                    <a:cubicBezTo>
                      <a:pt x="4237" y="126420"/>
                      <a:pt x="0" y="119073"/>
                      <a:pt x="8" y="111125"/>
                    </a:cubicBezTo>
                    <a:lnTo>
                      <a:pt x="8" y="22225"/>
                    </a:lnTo>
                    <a:cubicBezTo>
                      <a:pt x="8" y="9950"/>
                      <a:pt x="9958" y="0"/>
                      <a:pt x="22233" y="0"/>
                    </a:cubicBezTo>
                    <a:lnTo>
                      <a:pt x="111133" y="0"/>
                    </a:lnTo>
                    <a:cubicBezTo>
                      <a:pt x="123407" y="0"/>
                      <a:pt x="133358" y="9950"/>
                      <a:pt x="133358" y="22225"/>
                    </a:cubicBezTo>
                    <a:lnTo>
                      <a:pt x="133358" y="111125"/>
                    </a:lnTo>
                    <a:cubicBezTo>
                      <a:pt x="133358" y="123400"/>
                      <a:pt x="123407" y="133350"/>
                      <a:pt x="111133" y="133350"/>
                    </a:cubicBezTo>
                    <a:lnTo>
                      <a:pt x="77795" y="1333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72552" y="2379821"/>
              <a:ext cx="15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node_features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6310" y="2766060"/>
              <a:ext cx="13449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shape = [N, 64]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42950" y="3429000"/>
              <a:ext cx="2476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04888" y="3690938"/>
              <a:ext cx="200024" cy="211137"/>
              <a:chOff x="1004888" y="3690938"/>
              <a:chExt cx="200024" cy="21113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38225" y="3690938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04900" y="36909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cubicBezTo>
                      <a:pt x="14813" y="3700"/>
                      <a:pt x="22225" y="25925"/>
                      <a:pt x="22225" y="66675"/>
                    </a:cubicBezTo>
                    <a:cubicBezTo>
                      <a:pt x="22225" y="107425"/>
                      <a:pt x="14813" y="129650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82675" y="36909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22225" y="0"/>
                    </a:moveTo>
                    <a:cubicBezTo>
                      <a:pt x="7412" y="3700"/>
                      <a:pt x="0" y="25925"/>
                      <a:pt x="0" y="66675"/>
                    </a:cubicBezTo>
                    <a:cubicBezTo>
                      <a:pt x="0" y="107425"/>
                      <a:pt x="7412" y="129650"/>
                      <a:pt x="22225" y="13335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8225" y="3757612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4888" y="3879850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27125" y="3879850"/>
                <a:ext cx="777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9525">
                    <a:moveTo>
                      <a:pt x="0" y="0"/>
                    </a:moveTo>
                    <a:lnTo>
                      <a:pt x="77787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82675" y="38576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8242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72552" y="3713321"/>
              <a:ext cx="118346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edge_index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6310" y="4099560"/>
              <a:ext cx="12485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shape = [2, E]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19500" y="2095500"/>
              <a:ext cx="2476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881438" y="2357438"/>
              <a:ext cx="200024" cy="200024"/>
              <a:chOff x="3881438" y="2357438"/>
              <a:chExt cx="200024" cy="20002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881438" y="25130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037012" y="2357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959225" y="2379662"/>
                <a:ext cx="444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55575">
                    <a:moveTo>
                      <a:pt x="44450" y="0"/>
                    </a:moveTo>
                    <a:cubicBezTo>
                      <a:pt x="32175" y="0"/>
                      <a:pt x="22225" y="9950"/>
                      <a:pt x="22225" y="22225"/>
                    </a:cubicBezTo>
                    <a:lnTo>
                      <a:pt x="22225" y="133350"/>
                    </a:lnTo>
                    <a:cubicBezTo>
                      <a:pt x="22225" y="145625"/>
                      <a:pt x="12275" y="155575"/>
                      <a:pt x="0" y="155575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249102" y="2379821"/>
              <a:ext cx="11179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edge_type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32860" y="2766060"/>
              <a:ext cx="14150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0 / 1 / 2 relation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19500" y="3429000"/>
              <a:ext cx="247650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3881438" y="3690938"/>
              <a:ext cx="200025" cy="200025"/>
              <a:chOff x="3881438" y="36909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903662" y="3713162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948112" y="375761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881438" y="37687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881438" y="38131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59225" y="36909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003675" y="36909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059238" y="37687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59238" y="38131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003675" y="38687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959225" y="38687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249102" y="3713321"/>
              <a:ext cx="177348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warp_partitions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32860" y="40995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warp -&gt; node ids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2114550"/>
            <a:ext cx="4857750" cy="2343150"/>
            <a:chOff x="6286500" y="2114550"/>
            <a:chExt cx="4857750" cy="2343150"/>
          </a:xfrm>
        </p:grpSpPr>
        <p:sp>
          <p:nvSpPr>
            <p:cNvPr id="48" name="Freeform 48"/>
            <p:cNvSpPr/>
            <p:nvPr/>
          </p:nvSpPr>
          <p:spPr>
            <a:xfrm>
              <a:off x="6286500" y="32861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1D4ED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7391400" y="3200400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13335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15250" y="2114550"/>
              <a:ext cx="3429000" cy="2343150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065294" y="2426494"/>
              <a:ext cx="271462" cy="271462"/>
              <a:chOff x="8065294" y="2426494"/>
              <a:chExt cx="271462" cy="27146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201025" y="2577306"/>
                <a:ext cx="105569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120650">
                    <a:moveTo>
                      <a:pt x="52784" y="0"/>
                    </a:moveTo>
                    <a:cubicBezTo>
                      <a:pt x="23632" y="0"/>
                      <a:pt x="0" y="23632"/>
                      <a:pt x="0" y="52784"/>
                    </a:cubicBezTo>
                    <a:lnTo>
                      <a:pt x="0" y="67866"/>
                    </a:lnTo>
                    <a:cubicBezTo>
                      <a:pt x="0" y="97018"/>
                      <a:pt x="23632" y="120650"/>
                      <a:pt x="52784" y="120650"/>
                    </a:cubicBezTo>
                    <a:cubicBezTo>
                      <a:pt x="81936" y="120650"/>
                      <a:pt x="105569" y="97018"/>
                      <a:pt x="105569" y="67866"/>
                    </a:cubicBezTo>
                    <a:lnTo>
                      <a:pt x="105569" y="40719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95456" y="2577306"/>
                <a:ext cx="105569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120650">
                    <a:moveTo>
                      <a:pt x="52784" y="0"/>
                    </a:moveTo>
                    <a:cubicBezTo>
                      <a:pt x="81936" y="0"/>
                      <a:pt x="105569" y="23632"/>
                      <a:pt x="105569" y="52784"/>
                    </a:cubicBezTo>
                    <a:lnTo>
                      <a:pt x="105569" y="67866"/>
                    </a:lnTo>
                    <a:cubicBezTo>
                      <a:pt x="105569" y="97018"/>
                      <a:pt x="81936" y="120650"/>
                      <a:pt x="52784" y="120650"/>
                    </a:cubicBezTo>
                    <a:cubicBezTo>
                      <a:pt x="23632" y="120650"/>
                      <a:pt x="0" y="97018"/>
                      <a:pt x="0" y="67866"/>
                    </a:cubicBezTo>
                    <a:lnTo>
                      <a:pt x="0" y="40719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6431" y="2516981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7541" y="105569"/>
                    </a:moveTo>
                    <a:cubicBezTo>
                      <a:pt x="36693" y="105569"/>
                      <a:pt x="60325" y="81936"/>
                      <a:pt x="60325" y="52784"/>
                    </a:cubicBezTo>
                    <a:cubicBezTo>
                      <a:pt x="60325" y="23632"/>
                      <a:pt x="36693" y="0"/>
                      <a:pt x="7541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01025" y="2426494"/>
                <a:ext cx="105569" cy="95012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012">
                    <a:moveTo>
                      <a:pt x="105569" y="95012"/>
                    </a:moveTo>
                    <a:lnTo>
                      <a:pt x="105569" y="52784"/>
                    </a:lnTo>
                    <a:cubicBezTo>
                      <a:pt x="105569" y="23632"/>
                      <a:pt x="81936" y="0"/>
                      <a:pt x="52784" y="0"/>
                    </a:cubicBezTo>
                    <a:cubicBezTo>
                      <a:pt x="23632" y="0"/>
                      <a:pt x="0" y="23632"/>
                      <a:pt x="0" y="52784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65294" y="2516981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52784" y="105569"/>
                    </a:move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6032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095456" y="2426494"/>
                <a:ext cx="105569" cy="203597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203597">
                    <a:moveTo>
                      <a:pt x="0" y="95012"/>
                    </a:moveTo>
                    <a:lnTo>
                      <a:pt x="0" y="52784"/>
                    </a:lnTo>
                    <a:cubicBezTo>
                      <a:pt x="0" y="23632"/>
                      <a:pt x="23632" y="0"/>
                      <a:pt x="52784" y="0"/>
                    </a:cubicBezTo>
                    <a:cubicBezTo>
                      <a:pt x="81936" y="0"/>
                      <a:pt x="105569" y="23632"/>
                      <a:pt x="105569" y="52784"/>
                    </a:cubicBezTo>
                    <a:lnTo>
                      <a:pt x="105569" y="203597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530590" y="2453640"/>
              <a:ext cx="1798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RGCN encoder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20050" y="3028950"/>
              <a:ext cx="281940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34362" y="3145631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64 -&gt; 128 -&gt; 128 -&gt; 256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20050" y="3562350"/>
              <a:ext cx="2819400" cy="361950"/>
            </a:xfrm>
            <a:prstGeom prst="roundRect">
              <a:avLst>
                <a:gd name="adj" fmla="val 21053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34362" y="3679031"/>
              <a:ext cx="1490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relation_count = 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20050" y="4095750"/>
              <a:ext cx="2819400" cy="361950"/>
            </a:xfrm>
            <a:prstGeom prst="roundRect">
              <a:avLst>
                <a:gd name="adj" fmla="val 21053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34362" y="4212431"/>
              <a:ext cx="2739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output: node_embeddings [N,256]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2950" y="5143500"/>
            <a:ext cx="10401300" cy="609600"/>
            <a:chOff x="742950" y="5143500"/>
            <a:chExt cx="10401300" cy="609600"/>
          </a:xfrm>
        </p:grpSpPr>
        <p:sp>
          <p:nvSpPr>
            <p:cNvPr id="66" name="Rectangle 66"/>
            <p:cNvSpPr/>
            <p:nvPr/>
          </p:nvSpPr>
          <p:spPr>
            <a:xfrm>
              <a:off x="742950" y="5143500"/>
              <a:ext cx="104013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74408" y="5263039"/>
              <a:ext cx="35420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Feature schema 当前选择严格复现优先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312" y="5517356"/>
              <a:ext cx="90325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instruction / variable / pseudo node 都被投到 64 维输入；Phase A/B 暂不加入额外扩展语义，避免混淆 GCL 复现判断。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521970" y="643699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tensorizer.py; rgcn.py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5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06 · GNN 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94890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当前实现是真 RGCN，但仍是 minimal/smoke 训练版本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10553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它不是空壳：edge_type 会选择不同 relation_linear 做 message passing；但训练强度还不足以支撑语义正确性声明。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2076450"/>
            <a:ext cx="10439400" cy="2381250"/>
            <a:chOff x="781050" y="2076450"/>
            <a:chExt cx="10439400" cy="2381250"/>
          </a:xfrm>
        </p:grpSpPr>
        <p:sp>
          <p:nvSpPr>
            <p:cNvPr id="8" name="Rectangle 8"/>
            <p:cNvSpPr/>
            <p:nvPr/>
          </p:nvSpPr>
          <p:spPr>
            <a:xfrm>
              <a:off x="781050" y="2076450"/>
              <a:ext cx="104394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143000" y="2876550"/>
              <a:ext cx="1428750" cy="666750"/>
              <a:chOff x="1143000" y="2876550"/>
              <a:chExt cx="1428750" cy="666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143000" y="2876550"/>
                <a:ext cx="14287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DBEAFE"/>
              </a:solidFill>
              <a:ln w="9525">
                <a:solidFill>
                  <a:srgbClr val="1D4ED8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55408" y="3024664"/>
                <a:ext cx="52119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Input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57312" y="3288506"/>
                <a:ext cx="5214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64 dim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686050" y="320992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D4ED8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371850" y="3133725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638550" y="2667000"/>
              <a:ext cx="1619250" cy="1085850"/>
              <a:chOff x="3638550" y="2667000"/>
              <a:chExt cx="1619250" cy="10858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638550" y="2667000"/>
                <a:ext cx="1619250" cy="1085850"/>
              </a:xfrm>
              <a:prstGeom prst="roundRect">
                <a:avLst>
                  <a:gd name="adj" fmla="val 7018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889058" y="2853214"/>
                <a:ext cx="11175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RGCNLayer 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890962" y="317420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64 -&gt; 128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90962" y="3440906"/>
                <a:ext cx="9404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dropout 0.1</a:t>
                </a: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5372100" y="320992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D4ED8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057900" y="3133725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324600" y="2667000"/>
              <a:ext cx="1619250" cy="1085850"/>
              <a:chOff x="6324600" y="2667000"/>
              <a:chExt cx="1619250" cy="10858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324600" y="2667000"/>
                <a:ext cx="1619250" cy="1085850"/>
              </a:xfrm>
              <a:prstGeom prst="roundRect">
                <a:avLst>
                  <a:gd name="adj" fmla="val 7018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575108" y="2853214"/>
                <a:ext cx="11664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RGCNLayer 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77012" y="3174206"/>
                <a:ext cx="7679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128 -&gt; 128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77012" y="3440906"/>
                <a:ext cx="9404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dropout 0.1</a:t>
                </a:r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8058150" y="320992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D4ED8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743950" y="3133725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010650" y="2667000"/>
              <a:ext cx="1619250" cy="1085850"/>
              <a:chOff x="9010650" y="2667000"/>
              <a:chExt cx="1619250" cy="10858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010650" y="2667000"/>
                <a:ext cx="1619250" cy="1085850"/>
              </a:xfrm>
              <a:prstGeom prst="roundRect">
                <a:avLst>
                  <a:gd name="adj" fmla="val 7018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261158" y="2853214"/>
                <a:ext cx="11664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RGCNLayer 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263062" y="3174206"/>
                <a:ext cx="8090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128 -&gt; 256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63062" y="344090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no dropout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28712" y="3993356"/>
              <a:ext cx="64365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new node embedding = self_linear(x) + sum_relation relation_linear(neighbor_x)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4838700"/>
            <a:ext cx="12873751" cy="1009650"/>
            <a:chOff x="781050" y="4838700"/>
            <a:chExt cx="12873751" cy="1009650"/>
          </a:xfrm>
        </p:grpSpPr>
        <p:sp>
          <p:nvSpPr>
            <p:cNvPr id="36" name="Rectangle 36"/>
            <p:cNvSpPr/>
            <p:nvPr/>
          </p:nvSpPr>
          <p:spPr>
            <a:xfrm>
              <a:off x="781050" y="4838700"/>
              <a:ext cx="4953000" cy="100965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81088" y="5100638"/>
              <a:ext cx="200025" cy="200025"/>
              <a:chOff x="1081088" y="5100638"/>
              <a:chExt cx="200025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81088" y="51006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47762" y="51784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9705" y="50930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结构上已经成立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2562" y="5403056"/>
              <a:ext cx="6485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三层 RGCN、relation-specific 参数、LayerNorm、ReLU、ProjectionHead、InfoNCE。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67450" y="4838700"/>
              <a:ext cx="4953000" cy="100965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55429" y="5096946"/>
              <a:ext cx="224133" cy="192560"/>
              <a:chOff x="6555429" y="5096946"/>
              <a:chExt cx="224133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7500" y="51673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5429" y="50969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67500" y="5245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36105" y="50930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训练上仍然很弱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38962" y="5403056"/>
              <a:ext cx="6715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 basis decomposition、无 degree normalization、full trace 当前只训练 4 个 graph。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21970" y="6436995"/>
              <a:ext cx="34272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experiments/gcl_phase_a/rgcn.py; train.py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3575509" cy="1161098"/>
            <a:chOff x="501015" y="401002"/>
            <a:chExt cx="13575509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793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07 · Gate5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1357550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训练和 export 是两件事：当前只训练 4 个 graph，但导出 265 个 embedding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85223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这保证了 full-trace embedding table 可生成，但不能说明 encoder 已经过充分对比学习训练。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2950" y="2019300"/>
            <a:ext cx="5598914" cy="2762250"/>
            <a:chOff x="742950" y="2019300"/>
            <a:chExt cx="5598914" cy="2762250"/>
          </a:xfrm>
        </p:grpSpPr>
        <p:sp>
          <p:nvSpPr>
            <p:cNvPr id="8" name="Rectangle 8"/>
            <p:cNvSpPr/>
            <p:nvPr/>
          </p:nvSpPr>
          <p:spPr>
            <a:xfrm>
              <a:off x="742950" y="2019300"/>
              <a:ext cx="4905375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50131" y="2326481"/>
              <a:ext cx="242888" cy="242888"/>
              <a:chOff x="1050131" y="2326481"/>
              <a:chExt cx="242888" cy="2428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71575" y="24614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7119" y="24614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39044" y="24074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71575" y="23264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0131" y="24074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7119" y="23264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63040" y="2329815"/>
              <a:ext cx="21159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Training subset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914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23010" y="2899410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80210" y="30613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train graphs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43965" y="3334702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deterministic prefix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90875" y="2914650"/>
              <a:ext cx="2000250" cy="685800"/>
            </a:xfrm>
            <a:prstGeom prst="roundRect">
              <a:avLst>
                <a:gd name="adj" fmla="val 1111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85185" y="2899410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42385" y="3061335"/>
              <a:ext cx="1283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optimizer step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06140" y="33347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Adam lr=0.005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4412" y="3974306"/>
              <a:ext cx="5327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augmentation: node_drop=0.15, edge_drop=0.15, noise_sigma=0.01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4412" y="4279106"/>
              <a:ext cx="3298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loss: InfoNCE, projection_output_dim=64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43675" y="2019300"/>
            <a:ext cx="4905375" cy="2762250"/>
            <a:chOff x="6543675" y="2019300"/>
            <a:chExt cx="4905375" cy="2762250"/>
          </a:xfrm>
        </p:grpSpPr>
        <p:sp>
          <p:nvSpPr>
            <p:cNvPr id="28" name="Rectangle 28"/>
            <p:cNvSpPr/>
            <p:nvPr/>
          </p:nvSpPr>
          <p:spPr>
            <a:xfrm>
              <a:off x="6543675" y="2019300"/>
              <a:ext cx="4905375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864350" y="2326481"/>
              <a:ext cx="242887" cy="256381"/>
              <a:chOff x="6864350" y="2326481"/>
              <a:chExt cx="242887" cy="25638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864350" y="232648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40"/>
                      <a:pt x="48335" y="80962"/>
                      <a:pt x="107950" y="80962"/>
                    </a:cubicBezTo>
                    <a:cubicBezTo>
                      <a:pt x="167565" y="80962"/>
                      <a:pt x="215900" y="62840"/>
                      <a:pt x="215900" y="40481"/>
                    </a:cubicBezTo>
                    <a:cubicBezTo>
                      <a:pt x="215900" y="18122"/>
                      <a:pt x="167565" y="0"/>
                      <a:pt x="107950" y="0"/>
                    </a:cubicBezTo>
                    <a:cubicBezTo>
                      <a:pt x="48335" y="0"/>
                      <a:pt x="0" y="18122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864350" y="2366962"/>
                <a:ext cx="15045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50455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2"/>
                      <a:pt x="48335" y="121444"/>
                      <a:pt x="107950" y="121444"/>
                    </a:cubicBezTo>
                    <a:cubicBezTo>
                      <a:pt x="123036" y="121444"/>
                      <a:pt x="137407" y="120283"/>
                      <a:pt x="150455" y="11819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80250" y="2366962"/>
                <a:ext cx="95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2">
                    <a:moveTo>
                      <a:pt x="0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64350" y="2447925"/>
                <a:ext cx="11423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14238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2"/>
                      <a:pt x="48335" y="121444"/>
                      <a:pt x="107950" y="121444"/>
                    </a:cubicBezTo>
                    <a:cubicBezTo>
                      <a:pt x="110069" y="121444"/>
                      <a:pt x="112160" y="121417"/>
                      <a:pt x="114238" y="121376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26275" y="2542381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66756" y="2501900"/>
                <a:ext cx="40481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2">
                    <a:moveTo>
                      <a:pt x="0" y="0"/>
                    </a:moveTo>
                    <a:lnTo>
                      <a:pt x="40481" y="40481"/>
                    </a:lnTo>
                    <a:lnTo>
                      <a:pt x="0" y="80962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263765" y="2329815"/>
              <a:ext cx="23920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Embedding export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29425" y="2914650"/>
              <a:ext cx="2000250" cy="685800"/>
            </a:xfrm>
            <a:prstGeom prst="roundRect">
              <a:avLst>
                <a:gd name="adj" fmla="val 1111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23735" y="2899410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1460" y="306133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export rows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44690" y="3334702"/>
              <a:ext cx="75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full trace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86850" y="2914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1160" y="2899410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256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28885" y="3061335"/>
              <a:ext cx="3108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dim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02115" y="333470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kernel embedding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5138" y="3974306"/>
              <a:ext cx="43909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readout: node -&gt; warp -&gt; CTA -&gt; selected SM -&gt; kernel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15138" y="4279106"/>
              <a:ext cx="1983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checkpoint_reuse = true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2950" y="5191125"/>
            <a:ext cx="11587163" cy="666750"/>
            <a:chOff x="742950" y="5191125"/>
            <a:chExt cx="11587163" cy="666750"/>
          </a:xfrm>
        </p:grpSpPr>
        <p:sp>
          <p:nvSpPr>
            <p:cNvPr id="48" name="Rectangle 48"/>
            <p:cNvSpPr/>
            <p:nvPr/>
          </p:nvSpPr>
          <p:spPr>
            <a:xfrm>
              <a:off x="742950" y="5191125"/>
              <a:ext cx="107061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11879" y="5420796"/>
              <a:ext cx="224133" cy="192560"/>
              <a:chOff x="1011879" y="5420796"/>
              <a:chExt cx="224133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1123950" y="54911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11879" y="54207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23950" y="5568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392555" y="542639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解释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69758" y="5434489"/>
              <a:ext cx="104603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Gate5 证明 RGCN 路径可运行并可扩展导出；但当前训练规模太小，不能把 embedding 直接解释为已学习到稳定 kernel 语义。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56" name="TextBox 56"/>
            <p:cNvSpPr txBox="1"/>
            <p:nvPr/>
          </p:nvSpPr>
          <p:spPr>
            <a:xfrm>
              <a:off x="521970" y="6436995"/>
              <a:ext cx="4662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rgcn_training_run_manifest.json; kernel_embedding_table.json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7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08 · Gate6 Selector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72405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Silhouette-K 选择 k=2，但分布极不均衡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85716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当前更像是发现少数 outlier kernel，而不是已经得到稳定、语义明确的 ResNet50 family 切分。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000250"/>
            <a:ext cx="10668000" cy="1619250"/>
            <a:chOff x="762000" y="2000250"/>
            <a:chExt cx="10668000" cy="1619250"/>
          </a:xfrm>
        </p:grpSpPr>
        <p:sp>
          <p:nvSpPr>
            <p:cNvPr id="8" name="Rectangle 8"/>
            <p:cNvSpPr/>
            <p:nvPr/>
          </p:nvSpPr>
          <p:spPr>
            <a:xfrm>
              <a:off x="762000" y="2000250"/>
              <a:ext cx="34290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66800" y="2286000"/>
              <a:ext cx="238125" cy="228600"/>
              <a:chOff x="1066800" y="2286000"/>
              <a:chExt cx="238125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66800" y="22860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7600" y="2286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50800"/>
                    </a:ln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3000" y="24638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44600" y="2425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93800" y="24130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95400" y="2400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64945" y="2298382"/>
              <a:ext cx="13829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K selection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2678430"/>
              <a:ext cx="133359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k =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3460" y="3242310"/>
              <a:ext cx="24140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selected_score = 0.53412531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0" y="2000250"/>
              <a:ext cx="68580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36795" y="2222182"/>
              <a:ext cx="24583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Cluster membership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857750" y="2819400"/>
              <a:ext cx="5905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2819400"/>
              <a:ext cx="5857875" cy="323850"/>
            </a:xfrm>
            <a:prstGeom prst="roundRect">
              <a:avLst>
                <a:gd name="adj" fmla="val 23529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715625" y="2819400"/>
              <a:ext cx="47625" cy="323850"/>
            </a:xfrm>
            <a:prstGeom prst="roundRect">
              <a:avLst>
                <a:gd name="adj" fmla="val 40000"/>
              </a:avLst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41558" y="32723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cluster 0: 263 kernels, 99.25%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94308" y="3272314"/>
              <a:ext cx="24717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cluster 1: 2 kernels, 0.75%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048125"/>
            <a:ext cx="10668000" cy="1428750"/>
            <a:chOff x="762000" y="4048125"/>
            <a:chExt cx="10668000" cy="14287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48125"/>
              <a:ext cx="5191125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9650" y="4238625"/>
              <a:ext cx="27064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Representative anchors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028700" y="4667250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0" y="0"/>
                  </a:moveTo>
                  <a:lnTo>
                    <a:pt x="4543425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3460" y="4871085"/>
              <a:ext cx="23614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cluster 0 -&gt; d_0_s_0_k_333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3460" y="5185410"/>
              <a:ext cx="2317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cluster 1 -&gt; d_0_s_0_k_269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29375" y="4048125"/>
              <a:ext cx="5000625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77025" y="4238625"/>
              <a:ext cx="20508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Cluster 1 members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696075" y="4667250"/>
              <a:ext cx="4352925" cy="9525"/>
            </a:xfrm>
            <a:custGeom>
              <a:avLst/>
              <a:gdLst/>
              <a:ahLst/>
              <a:cxnLst/>
              <a:rect l="l" t="t" r="r" b="b"/>
              <a:pathLst>
                <a:path w="4352925" h="9525">
                  <a:moveTo>
                    <a:pt x="0" y="0"/>
                  </a:moveTo>
                  <a:lnTo>
                    <a:pt x="4352925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80835" y="4871085"/>
              <a:ext cx="1283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d_0_s_0_k_269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7260" y="4871085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nodes=127458, edges=278471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0835" y="5185410"/>
              <a:ext cx="1239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d_0_s_0_k_531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57260" y="5185410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nodes=6676, edges=12104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1970" y="6436995"/>
            <a:ext cx="11136440" cy="182880"/>
            <a:chOff x="521970" y="6436995"/>
            <a:chExt cx="1113644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21970" y="6436995"/>
              <a:ext cx="40910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selector_artifacts.json; kernel_embedding_table.json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28070" y="64369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01015" y="401002"/>
            <a:ext cx="11157585" cy="1161098"/>
            <a:chOff x="501015" y="401002"/>
            <a:chExt cx="11157585" cy="1161098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09 · Gate7 Evidence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1015" y="639128"/>
              <a:ext cx="82963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Gate7 给出了定量信号，但明确不做正确性声明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0490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805" y="1254442"/>
              <a:ext cx="9537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 artifact 的 claim_status 是 quantified_no_correctness_claim，这是我们汇报时必须保留的边界。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2950" y="2000250"/>
            <a:ext cx="10572750" cy="1352550"/>
            <a:chOff x="742950" y="2000250"/>
            <a:chExt cx="10572750" cy="1352550"/>
          </a:xfrm>
        </p:grpSpPr>
        <p:sp>
          <p:nvSpPr>
            <p:cNvPr id="8" name="Rectangle 8"/>
            <p:cNvSpPr/>
            <p:nvPr/>
          </p:nvSpPr>
          <p:spPr>
            <a:xfrm>
              <a:off x="742950" y="2000250"/>
              <a:ext cx="2428875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6312" y="2221706"/>
              <a:ext cx="13512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Gate7 silhouette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8690" y="2539365"/>
              <a:ext cx="147549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0.482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7265" y="3068002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embedding geometry has signal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57575" y="2000250"/>
              <a:ext cx="2428875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90938" y="2221706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inter / intra ratio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63315" y="2539365"/>
              <a:ext cx="134897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2.016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1890" y="3068002"/>
              <a:ext cx="1767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clusters are separated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72200" y="2000250"/>
              <a:ext cx="2428875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5562" y="2221706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Davies-Bouldin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7940" y="2539365"/>
              <a:ext cx="147549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0.790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06515" y="3068002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lower is better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86825" y="2000250"/>
              <a:ext cx="2428875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20188" y="222170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stability status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11615" y="2606040"/>
              <a:ext cx="14258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single_run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15425" y="2943225"/>
              <a:ext cx="15497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97316"/>
                  </a:solidFill>
                  <a:latin typeface="Consolas"/>
                  <a:ea typeface="Microsoft YaHei"/>
                  <a:cs typeface="Consolas"/>
                </a:rPr>
                <a:t>not_evaluated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2950" y="3810000"/>
            <a:ext cx="10668000" cy="1257300"/>
            <a:chOff x="742950" y="3810000"/>
            <a:chExt cx="10668000" cy="1257300"/>
          </a:xfrm>
        </p:grpSpPr>
        <p:sp>
          <p:nvSpPr>
            <p:cNvPr id="25" name="Rectangle 25"/>
            <p:cNvSpPr/>
            <p:nvPr/>
          </p:nvSpPr>
          <p:spPr>
            <a:xfrm>
              <a:off x="742950" y="3810000"/>
              <a:ext cx="10668000" cy="1257300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56059" y="4133866"/>
              <a:ext cx="288171" cy="247577"/>
              <a:chOff x="1056059" y="4133866"/>
              <a:chExt cx="288171" cy="24757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00150" y="42243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56059" y="41338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00150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539240" y="4149090"/>
              <a:ext cx="1715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Claim status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7335" y="4551998"/>
              <a:ext cx="49088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C2626"/>
                  </a:solidFill>
                  <a:latin typeface="Consolas"/>
                  <a:ea typeface="Microsoft YaHei"/>
                  <a:cs typeface="Consolas"/>
                </a:rPr>
                <a:t>quantified_no_correctness_claim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27508" y="4167664"/>
              <a:ext cx="591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原因：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28460" y="4499610"/>
              <a:ext cx="1949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1. 无多 seed 稳定性评估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28460" y="4804410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2. 无 simulator metric baseline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" y="5334000"/>
            <a:ext cx="10668000" cy="514350"/>
            <a:chOff x="742950" y="5334000"/>
            <a:chExt cx="10668000" cy="514350"/>
          </a:xfrm>
        </p:grpSpPr>
        <p:sp>
          <p:nvSpPr>
            <p:cNvPr id="36" name="Rectangle 36"/>
            <p:cNvSpPr/>
            <p:nvPr/>
          </p:nvSpPr>
          <p:spPr>
            <a:xfrm>
              <a:off x="742950" y="5334000"/>
              <a:ext cx="10668000" cy="514350"/>
            </a:xfrm>
            <a:prstGeom prst="roundRect">
              <a:avLst>
                <a:gd name="adj" fmla="val 14815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4408" y="5520214"/>
              <a:ext cx="89520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正确表述：当前 GCL pipeline 产生非退化 embedding，并发现 k=2 结构；但还不能声称 GNN 分类语义正确。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1970" y="6436995"/>
            <a:ext cx="11103578" cy="182880"/>
            <a:chOff x="521970" y="6436995"/>
            <a:chExt cx="11103578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21970" y="6436995"/>
              <a:ext cx="33155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Source: gate7_cluster_correctness_manifest.json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28070" y="64369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5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39000" y="857250"/>
            <a:ext cx="4286250" cy="5143500"/>
            <a:chOff x="7239000" y="857250"/>
            <a:chExt cx="4286250" cy="5143500"/>
          </a:xfrm>
        </p:grpSpPr>
        <p:sp>
          <p:nvSpPr>
            <p:cNvPr id="3" name="Freeform 3"/>
            <p:cNvSpPr/>
            <p:nvPr/>
          </p:nvSpPr>
          <p:spPr>
            <a:xfrm>
              <a:off x="7239000" y="857250"/>
              <a:ext cx="4286250" cy="5143500"/>
            </a:xfrm>
            <a:custGeom>
              <a:avLst/>
              <a:gdLst/>
              <a:ahLst/>
              <a:cxnLst/>
              <a:rect l="l" t="t" r="r" b="b"/>
              <a:pathLst>
                <a:path w="4286250" h="5143500">
                  <a:moveTo>
                    <a:pt x="0" y="0"/>
                  </a:moveTo>
                  <a:lnTo>
                    <a:pt x="4286250" y="0"/>
                  </a:lnTo>
                  <a:lnTo>
                    <a:pt x="4286250" y="514350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DBEAFE">
                <a:alpha val="4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810500" y="1428750"/>
              <a:ext cx="3333750" cy="4000500"/>
            </a:xfrm>
            <a:custGeom>
              <a:avLst/>
              <a:gdLst/>
              <a:ahLst/>
              <a:cxnLst/>
              <a:rect l="l" t="t" r="r" b="b"/>
              <a:pathLst>
                <a:path w="3333750" h="4000500">
                  <a:moveTo>
                    <a:pt x="0" y="0"/>
                  </a:moveTo>
                  <a:lnTo>
                    <a:pt x="3333750" y="0"/>
                  </a:lnTo>
                  <a:lnTo>
                    <a:pt x="333375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CCFBF1">
                <a:alpha val="35000"/>
              </a:srgbClr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72465" y="553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· 判断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3890" y="1358265"/>
            <a:ext cx="10321195" cy="3401854"/>
            <a:chOff x="643890" y="1358265"/>
            <a:chExt cx="10321195" cy="3401854"/>
          </a:xfrm>
        </p:grpSpPr>
        <p:sp>
          <p:nvSpPr>
            <p:cNvPr id="7" name="TextBox 7"/>
            <p:cNvSpPr txBox="1"/>
            <p:nvPr/>
          </p:nvSpPr>
          <p:spPr>
            <a:xfrm>
              <a:off x="643890" y="1358265"/>
              <a:ext cx="565051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当前结果应该如何判断？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1526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47625">
              <a:solidFill>
                <a:srgbClr val="1D4ED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7225" y="2652712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工程闭环成立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5798" y="3163729"/>
              <a:ext cx="102992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真实 ResNet50 trace 已经经过 graph、tensor、RGCN、embedding、selector 和 Gate7 report。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7225" y="3929062"/>
              <a:ext cx="28174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97316"/>
                  </a:solidFill>
                  <a:latin typeface="Arial"/>
                  <a:ea typeface="Microsoft YaHei"/>
                  <a:cs typeface="Arial"/>
                </a:rPr>
                <a:t>模型可信性仍不足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798" y="4440079"/>
              <a:ext cx="951718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 GNN 是 minimal smoke 训练，k=2 更像 outlier discovery，还不能宣称语义分类正确。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63902" y="1943100"/>
            <a:ext cx="2700147" cy="2707481"/>
            <a:chOff x="8363902" y="1943100"/>
            <a:chExt cx="2700147" cy="2707481"/>
          </a:xfrm>
        </p:grpSpPr>
        <p:sp>
          <p:nvSpPr>
            <p:cNvPr id="14" name="Ellipse 14"/>
            <p:cNvSpPr/>
            <p:nvPr/>
          </p:nvSpPr>
          <p:spPr>
            <a:xfrm>
              <a:off x="8610600" y="1943100"/>
              <a:ext cx="1447800" cy="14478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D4ED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3020" y="2441258"/>
              <a:ext cx="8770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D4ED8"/>
                  </a:solidFill>
                  <a:latin typeface="Consolas"/>
                  <a:ea typeface="Microsoft YaHei"/>
                  <a:cs typeface="Consolas"/>
                </a:rPr>
                <a:t>k=2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63902" y="3713321"/>
              <a:ext cx="245040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265 个 kernel invocation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63902" y="4037171"/>
              <a:ext cx="162832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263 / 2 极不均衡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3902" y="4361021"/>
              <a:ext cx="270014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single-run stability 未评估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2940" y="5692140"/>
            <a:ext cx="11027474" cy="365760"/>
            <a:chOff x="662940" y="5692140"/>
            <a:chExt cx="11027474" cy="365760"/>
          </a:xfrm>
        </p:grpSpPr>
        <p:sp>
          <p:nvSpPr>
            <p:cNvPr id="20" name="TextBox 20"/>
            <p:cNvSpPr txBox="1"/>
            <p:nvPr/>
          </p:nvSpPr>
          <p:spPr>
            <a:xfrm>
              <a:off x="662940" y="56921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一句话：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15440" y="5692140"/>
              <a:ext cx="100749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我们已经复现了可运行的 GCL pipeline，但还没有训练出可被信任的最终 GNN 分类器。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4370" y="6436995"/>
            <a:ext cx="10918317" cy="182880"/>
            <a:chOff x="674370" y="6436995"/>
            <a:chExt cx="10918317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674370" y="6436995"/>
              <a:ext cx="5799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Interpretation boundary: non-degenerate embedding is not equal to semantic correctness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28070" y="643699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1490" y="401002"/>
            <a:ext cx="9282113" cy="1158717"/>
            <a:chOff x="491490" y="401002"/>
            <a:chExt cx="9282113" cy="1158717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01002"/>
              <a:ext cx="1100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 · Next Steps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1490" y="634365"/>
              <a:ext cx="926886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下一步：从“可运行复现”走向“可信 GCL”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2448" y="1239679"/>
              <a:ext cx="92411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我们已经打通链路；后续重点不是再证明能跑，而是证明分组稳定、可解释、对调参有用。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1060" y="3124200"/>
            <a:ext cx="10749153" cy="2057400"/>
            <a:chOff x="861060" y="3124200"/>
            <a:chExt cx="10749153" cy="2057400"/>
          </a:xfrm>
        </p:grpSpPr>
        <p:sp>
          <p:nvSpPr>
            <p:cNvPr id="7" name="Freeform 7"/>
            <p:cNvSpPr/>
            <p:nvPr/>
          </p:nvSpPr>
          <p:spPr>
            <a:xfrm>
              <a:off x="1238250" y="3524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CBD5E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1060" y="3124200"/>
              <a:ext cx="1818132" cy="2057400"/>
              <a:chOff x="861060" y="3124200"/>
              <a:chExt cx="1818132" cy="20574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40970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D4ED8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63065" y="3415665"/>
                <a:ext cx="1285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22045" y="429863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正式训练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61060" y="4690110"/>
                <a:ext cx="18093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增加 train graph 数量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61060" y="4937760"/>
                <a:ext cx="18181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 epoch / loss curve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56660" y="3124200"/>
              <a:ext cx="1870710" cy="2057400"/>
              <a:chOff x="3756660" y="3124200"/>
              <a:chExt cx="1870710" cy="20574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436245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F766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15815" y="3415665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74795" y="4298632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稳定性验证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56660" y="469011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multi-seed clustering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56660" y="4937760"/>
                <a:ext cx="16954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ARI / centroid drift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690360" y="3124200"/>
              <a:ext cx="2177415" cy="2057400"/>
              <a:chOff x="6690360" y="3124200"/>
              <a:chExt cx="2177415" cy="20574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31520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9731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568565" y="3415665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97316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7545" y="429863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语义解释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90360" y="4690110"/>
                <a:ext cx="215988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分析 cluster 1 两个 kernel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90360" y="4937760"/>
                <a:ext cx="21774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opcode / graph size / CTA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643110" y="3124200"/>
              <a:ext cx="1967103" cy="2057400"/>
              <a:chOff x="9643110" y="3124200"/>
              <a:chExt cx="1967103" cy="20574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10267950" y="31242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1D4ED8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521315" y="3415665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4ED8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80295" y="429863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扩展验证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43110" y="469011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 workload 对照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643110" y="4937760"/>
                <a:ext cx="19671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接入 simulator metrics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1066800" y="5715000"/>
            <a:ext cx="11725028" cy="552450"/>
            <a:chOff x="1066800" y="5715000"/>
            <a:chExt cx="11725028" cy="552450"/>
          </a:xfrm>
        </p:grpSpPr>
        <p:sp>
          <p:nvSpPr>
            <p:cNvPr id="33" name="Rectangle 33"/>
            <p:cNvSpPr/>
            <p:nvPr/>
          </p:nvSpPr>
          <p:spPr>
            <a:xfrm>
              <a:off x="1066800" y="5715000"/>
              <a:ext cx="10058400" cy="552450"/>
            </a:xfrm>
            <a:prstGeom prst="roundRect">
              <a:avLst>
                <a:gd name="adj" fmla="val 1379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51598" y="5897404"/>
              <a:ext cx="1144023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近期目标：把 Gate7 从 quantified_no_correctness_claim 推进到有稳定性证据和语义解释的可信报告。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1970" y="6436995"/>
            <a:ext cx="11103578" cy="182880"/>
            <a:chOff x="521970" y="6436995"/>
            <a:chExt cx="11103578" cy="182880"/>
          </a:xfrm>
        </p:grpSpPr>
        <p:sp>
          <p:nvSpPr>
            <p:cNvPr id="36" name="TextBox 36"/>
            <p:cNvSpPr txBox="1"/>
            <p:nvPr/>
          </p:nvSpPr>
          <p:spPr>
            <a:xfrm>
              <a:off x="521970" y="643699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End of deck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28070" y="64369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